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3" r:id="rId2"/>
    <p:sldId id="286" r:id="rId3"/>
    <p:sldId id="268" r:id="rId4"/>
    <p:sldId id="295" r:id="rId5"/>
    <p:sldId id="288" r:id="rId6"/>
    <p:sldId id="290" r:id="rId7"/>
    <p:sldId id="296" r:id="rId8"/>
    <p:sldId id="297" r:id="rId9"/>
    <p:sldId id="298" r:id="rId10"/>
    <p:sldId id="299" r:id="rId11"/>
    <p:sldId id="300" r:id="rId12"/>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17" d="100"/>
          <a:sy n="117" d="100"/>
        </p:scale>
        <p:origin x="12" y="-6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a:p>
        </p:txBody>
      </p:sp>
      <p:sp>
        <p:nvSpPr>
          <p:cNvPr id="3" name="Date Placeholder 2"/>
          <p:cNvSpPr>
            <a:spLocks noGrp="1"/>
          </p:cNvSpPr>
          <p:nvPr>
            <p:ph type="dt" idx="1"/>
          </p:nvPr>
        </p:nvSpPr>
        <p:spPr>
          <a:xfrm>
            <a:off x="4008705" y="0"/>
            <a:ext cx="3066733" cy="469780"/>
          </a:xfrm>
          <a:prstGeom prst="rect">
            <a:avLst/>
          </a:prstGeom>
        </p:spPr>
        <p:txBody>
          <a:bodyPr vert="horz" lIns="93936" tIns="46968" rIns="93936" bIns="46968" rtlCol="0"/>
          <a:lstStyle>
            <a:lvl1pPr algn="r">
              <a:defRPr sz="1200"/>
            </a:lvl1pPr>
          </a:lstStyle>
          <a:p>
            <a:fld id="{A188F262-63EE-48DD-9BD3-E6CFFC7FBC14}" type="datetimeFigureOut">
              <a:rPr lang="en-US" smtClean="0"/>
              <a:t>12/15/2025</a:t>
            </a:fld>
            <a:endParaRPr lang="en-US"/>
          </a:p>
        </p:txBody>
      </p:sp>
      <p:sp>
        <p:nvSpPr>
          <p:cNvPr id="4" name="Slide Image Placeholder 3"/>
          <p:cNvSpPr>
            <a:spLocks noGrp="1" noRot="1" noChangeAspect="1"/>
          </p:cNvSpPr>
          <p:nvPr>
            <p:ph type="sldImg" idx="2"/>
          </p:nvPr>
        </p:nvSpPr>
        <p:spPr>
          <a:xfrm>
            <a:off x="728663" y="1169988"/>
            <a:ext cx="5619750" cy="3160712"/>
          </a:xfrm>
          <a:prstGeom prst="rect">
            <a:avLst/>
          </a:prstGeom>
          <a:noFill/>
          <a:ln w="12700">
            <a:solidFill>
              <a:prstClr val="black"/>
            </a:solidFill>
          </a:ln>
        </p:spPr>
        <p:txBody>
          <a:bodyPr vert="horz" lIns="93936" tIns="46968" rIns="93936" bIns="46968" rtlCol="0" anchor="ctr"/>
          <a:lstStyle/>
          <a:p>
            <a:endParaRPr lang="en-US"/>
          </a:p>
        </p:txBody>
      </p:sp>
      <p:sp>
        <p:nvSpPr>
          <p:cNvPr id="5" name="Notes Placeholder 4"/>
          <p:cNvSpPr>
            <a:spLocks noGrp="1"/>
          </p:cNvSpPr>
          <p:nvPr>
            <p:ph type="body" sz="quarter" idx="3"/>
          </p:nvPr>
        </p:nvSpPr>
        <p:spPr>
          <a:xfrm>
            <a:off x="707708" y="4505980"/>
            <a:ext cx="5661660" cy="3686711"/>
          </a:xfrm>
          <a:prstGeom prst="rect">
            <a:avLst/>
          </a:prstGeom>
        </p:spPr>
        <p:txBody>
          <a:bodyPr vert="horz" lIns="93936" tIns="46968" rIns="93936" bIns="469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893297"/>
            <a:ext cx="3066733" cy="469779"/>
          </a:xfrm>
          <a:prstGeom prst="rect">
            <a:avLst/>
          </a:prstGeom>
        </p:spPr>
        <p:txBody>
          <a:bodyPr vert="horz" lIns="93936" tIns="46968" rIns="93936" bIns="46968" rtlCol="0" anchor="b"/>
          <a:lstStyle>
            <a:lvl1pPr algn="r">
              <a:defRPr sz="1200"/>
            </a:lvl1pPr>
          </a:lstStyle>
          <a:p>
            <a:fld id="{15ADB14E-0383-420F-ACAC-9EDED7E13AAE}" type="slidenum">
              <a:rPr lang="en-US" smtClean="0"/>
              <a:t>‹#›</a:t>
            </a:fld>
            <a:endParaRPr lang="en-US"/>
          </a:p>
        </p:txBody>
      </p:sp>
    </p:spTree>
    <p:extLst>
      <p:ext uri="{BB962C8B-B14F-4D97-AF65-F5344CB8AC3E}">
        <p14:creationId xmlns:p14="http://schemas.microsoft.com/office/powerpoint/2010/main" val="2079699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5924D-CE97-A3A3-0596-3BD3B4B1B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AD093-E98E-A7E5-A3D7-812EA155E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CC4F45-0BCA-DC40-EB4A-D57FAF533F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A8F102-0F08-918E-0A71-CCBD53E3C17B}"/>
              </a:ext>
            </a:extLst>
          </p:cNvPr>
          <p:cNvSpPr>
            <a:spLocks noGrp="1"/>
          </p:cNvSpPr>
          <p:nvPr>
            <p:ph type="sldNum" sz="quarter" idx="5"/>
          </p:nvPr>
        </p:nvSpPr>
        <p:spPr/>
        <p:txBody>
          <a:bodyPr/>
          <a:lstStyle/>
          <a:p>
            <a:fld id="{15ADB14E-0383-420F-ACAC-9EDED7E13AAE}" type="slidenum">
              <a:rPr lang="en-US" smtClean="0"/>
              <a:t>1</a:t>
            </a:fld>
            <a:endParaRPr lang="en-US" dirty="0"/>
          </a:p>
        </p:txBody>
      </p:sp>
    </p:spTree>
    <p:extLst>
      <p:ext uri="{BB962C8B-B14F-4D97-AF65-F5344CB8AC3E}">
        <p14:creationId xmlns:p14="http://schemas.microsoft.com/office/powerpoint/2010/main" val="1325424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9C15-A0BF-3169-BE3C-9266E41209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1364C-8B8B-CBB0-08BE-CC5C8A580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D62841F-2B7A-0E16-E214-912E4CFA1893}"/>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5" name="Footer Placeholder 4">
            <a:extLst>
              <a:ext uri="{FF2B5EF4-FFF2-40B4-BE49-F238E27FC236}">
                <a16:creationId xmlns:a16="http://schemas.microsoft.com/office/drawing/2014/main" id="{1A7711C3-8B08-1592-27D2-82CFCA0A0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891D35-9A37-2E25-B3BE-342CD0B2A989}"/>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3840192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030C-6A81-64F4-2260-85B6CFCDD2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6FB46D-83C0-3B77-82F9-8E90B310D5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0CC5B-675A-736C-0423-A65C1412EEFE}"/>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5" name="Footer Placeholder 4">
            <a:extLst>
              <a:ext uri="{FF2B5EF4-FFF2-40B4-BE49-F238E27FC236}">
                <a16:creationId xmlns:a16="http://schemas.microsoft.com/office/drawing/2014/main" id="{EF77E319-B13A-D866-CFDC-4B3CE5DD2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F904F9-D091-D004-9F8A-BE952380F572}"/>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3853204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E56FC-6816-CE5B-E5E3-0A98D10092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AD255D-2121-490C-8AA7-2B4AA6C4D3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AB78D0-8013-382F-F478-D42EE1DCA3F0}"/>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5" name="Footer Placeholder 4">
            <a:extLst>
              <a:ext uri="{FF2B5EF4-FFF2-40B4-BE49-F238E27FC236}">
                <a16:creationId xmlns:a16="http://schemas.microsoft.com/office/drawing/2014/main" id="{75CE2EF7-6BA0-90F6-5327-DD20C35965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68C426-5295-8BD6-3A57-5853A31CE993}"/>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3378476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5018E-B5E7-4475-BA04-3C59192F71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379A91-8F6D-C424-6B97-957AD5540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4D48FA-2DAA-D924-E045-E36B47534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EDABD2-86EC-57F7-76F8-FABD3BB3930D}"/>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6" name="Footer Placeholder 5">
            <a:extLst>
              <a:ext uri="{FF2B5EF4-FFF2-40B4-BE49-F238E27FC236}">
                <a16:creationId xmlns:a16="http://schemas.microsoft.com/office/drawing/2014/main" id="{4E56F46A-CFEC-1547-8E3E-32B47071A7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7BBC3-956D-FD4E-C993-133B0A115907}"/>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381656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1157-105A-05D0-F5C5-CCE2E259F8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9D4097-5413-EA59-3378-A6A8DDC7E8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F9430A-6115-1ABD-0D5E-22965B5E5A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CF2061-0F56-577D-2838-3E656EF00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CEAB1-5FB0-E031-0712-90FF39EB7D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449A66-788D-83A4-8627-A9791D7906D5}"/>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8" name="Footer Placeholder 7">
            <a:extLst>
              <a:ext uri="{FF2B5EF4-FFF2-40B4-BE49-F238E27FC236}">
                <a16:creationId xmlns:a16="http://schemas.microsoft.com/office/drawing/2014/main" id="{C8F8B082-2B45-5AC7-6867-159EC2E79B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FC72DB-708D-73F7-D3FD-19AD692F81F4}"/>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645262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11C3-4369-03C3-01B2-98FC7B49AC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664F0C-EA0C-D2CD-2B5E-0AEC3BBF91DA}"/>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4" name="Footer Placeholder 3">
            <a:extLst>
              <a:ext uri="{FF2B5EF4-FFF2-40B4-BE49-F238E27FC236}">
                <a16:creationId xmlns:a16="http://schemas.microsoft.com/office/drawing/2014/main" id="{E8E61B0C-77DE-309A-F30E-222B785A2D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BA49C-EFA2-3F87-2C04-592B90038BE2}"/>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606032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5C0980-5C05-66E2-836D-74C82468D215}"/>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3" name="Footer Placeholder 2">
            <a:extLst>
              <a:ext uri="{FF2B5EF4-FFF2-40B4-BE49-F238E27FC236}">
                <a16:creationId xmlns:a16="http://schemas.microsoft.com/office/drawing/2014/main" id="{FE280B01-A8C8-8266-BA23-5700A3ABC2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605ABA-264D-CE5F-56E7-F797156021D5}"/>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3457011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696A4-D08D-CBD7-99E1-9846F84A2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86898E-E7DF-FB45-FBAF-7E1A98BB4B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8E6FCC-3D75-5FFC-CF5C-39ABEBA76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FE7ACD-9798-5D15-8DB3-E2469320E492}"/>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6" name="Footer Placeholder 5">
            <a:extLst>
              <a:ext uri="{FF2B5EF4-FFF2-40B4-BE49-F238E27FC236}">
                <a16:creationId xmlns:a16="http://schemas.microsoft.com/office/drawing/2014/main" id="{19696A27-5CB9-CDC3-8F62-F54F27F4DE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A0792E-8D67-1662-CF73-440785E8B96E}"/>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270408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90160-FC65-AD59-3A21-FA5735A18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793675-66CA-8FDF-B50F-6FF5E78FDA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8FD53C-2A85-C32F-9939-13D3A2303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44E7B5-66B3-BB3F-F8C2-81A30C0547D5}"/>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6" name="Footer Placeholder 5">
            <a:extLst>
              <a:ext uri="{FF2B5EF4-FFF2-40B4-BE49-F238E27FC236}">
                <a16:creationId xmlns:a16="http://schemas.microsoft.com/office/drawing/2014/main" id="{32973DD8-EFE9-4622-B110-7412FB9EE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1FB40E-5A64-59D0-C627-4B04D3C46464}"/>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2764024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47A5D-2813-64A4-9105-137CA8AE2A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156515-4E1B-122B-3347-4AFEB09A49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27E7BB-895F-01CF-8309-5EEA14D7918A}"/>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5" name="Footer Placeholder 4">
            <a:extLst>
              <a:ext uri="{FF2B5EF4-FFF2-40B4-BE49-F238E27FC236}">
                <a16:creationId xmlns:a16="http://schemas.microsoft.com/office/drawing/2014/main" id="{25D2290C-E7F7-26DA-E06B-58B5D2DDC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AB06F4-64A3-7CD5-6CFA-120659BEA029}"/>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330570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37F080-DFF4-6C6F-6FCA-4FD1A224AC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21C4FE-6491-C271-440F-D2F62960F7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A89E0C-20D0-D273-5A61-CEE21AF00D06}"/>
              </a:ext>
            </a:extLst>
          </p:cNvPr>
          <p:cNvSpPr>
            <a:spLocks noGrp="1"/>
          </p:cNvSpPr>
          <p:nvPr>
            <p:ph type="dt" sz="half" idx="10"/>
          </p:nvPr>
        </p:nvSpPr>
        <p:spPr/>
        <p:txBody>
          <a:bodyPr/>
          <a:lstStyle/>
          <a:p>
            <a:fld id="{0B2BCF55-F059-4546-8684-0BE6766709D6}" type="datetimeFigureOut">
              <a:rPr lang="en-US" smtClean="0"/>
              <a:t>12/15/2025</a:t>
            </a:fld>
            <a:endParaRPr lang="en-US"/>
          </a:p>
        </p:txBody>
      </p:sp>
      <p:sp>
        <p:nvSpPr>
          <p:cNvPr id="5" name="Footer Placeholder 4">
            <a:extLst>
              <a:ext uri="{FF2B5EF4-FFF2-40B4-BE49-F238E27FC236}">
                <a16:creationId xmlns:a16="http://schemas.microsoft.com/office/drawing/2014/main" id="{CCCC2104-A9B8-FB9A-237B-CD22488AA4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4B5D6C-6B39-F2DB-D5CA-AEAD96C62FAA}"/>
              </a:ext>
            </a:extLst>
          </p:cNvPr>
          <p:cNvSpPr>
            <a:spLocks noGrp="1"/>
          </p:cNvSpPr>
          <p:nvPr>
            <p:ph type="sldNum" sz="quarter" idx="12"/>
          </p:nvPr>
        </p:nvSpPr>
        <p:spPr/>
        <p:txBody>
          <a:bodyPr/>
          <a:lstStyle/>
          <a:p>
            <a:fld id="{156DD93B-4614-4AC7-915D-27470802009A}" type="slidenum">
              <a:rPr lang="en-US" smtClean="0"/>
              <a:t>‹#›</a:t>
            </a:fld>
            <a:endParaRPr lang="en-US"/>
          </a:p>
        </p:txBody>
      </p:sp>
    </p:spTree>
    <p:extLst>
      <p:ext uri="{BB962C8B-B14F-4D97-AF65-F5344CB8AC3E}">
        <p14:creationId xmlns:p14="http://schemas.microsoft.com/office/powerpoint/2010/main" val="24958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45F823-0963-ECF3-E2F2-8E652B462B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E16E8-F8FE-3EF0-069C-C55D309F7D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EBF94B-FEA4-CA20-1C89-24C93A9EB9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2BCF55-F059-4546-8684-0BE6766709D6}" type="datetimeFigureOut">
              <a:rPr lang="en-US" smtClean="0"/>
              <a:t>12/15/2025</a:t>
            </a:fld>
            <a:endParaRPr lang="en-US"/>
          </a:p>
        </p:txBody>
      </p:sp>
      <p:sp>
        <p:nvSpPr>
          <p:cNvPr id="5" name="Footer Placeholder 4">
            <a:extLst>
              <a:ext uri="{FF2B5EF4-FFF2-40B4-BE49-F238E27FC236}">
                <a16:creationId xmlns:a16="http://schemas.microsoft.com/office/drawing/2014/main" id="{90D87624-A3AE-4965-C36E-E6CA609B31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EBE2F5-A060-DDF2-6CE7-7BFE570884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6DD93B-4614-4AC7-915D-27470802009A}" type="slidenum">
              <a:rPr lang="en-US" smtClean="0"/>
              <a:t>‹#›</a:t>
            </a:fld>
            <a:endParaRPr lang="en-US"/>
          </a:p>
        </p:txBody>
      </p:sp>
    </p:spTree>
    <p:extLst>
      <p:ext uri="{BB962C8B-B14F-4D97-AF65-F5344CB8AC3E}">
        <p14:creationId xmlns:p14="http://schemas.microsoft.com/office/powerpoint/2010/main" val="3255628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6671-176B-E75E-9EBF-2AE3A2B1E7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736334-9E3B-DF80-F568-CB85A1077234}"/>
              </a:ext>
            </a:extLst>
          </p:cNvPr>
          <p:cNvSpPr txBox="1"/>
          <p:nvPr/>
        </p:nvSpPr>
        <p:spPr>
          <a:xfrm>
            <a:off x="0" y="0"/>
            <a:ext cx="9754145" cy="584775"/>
          </a:xfrm>
          <a:prstGeom prst="rect">
            <a:avLst/>
          </a:prstGeom>
          <a:noFill/>
        </p:spPr>
        <p:txBody>
          <a:bodyPr wrap="none">
            <a:spAutoFit/>
          </a:bodyPr>
          <a:lstStyle/>
          <a:p>
            <a:pPr>
              <a:defRPr sz="3200" b="1"/>
            </a:pPr>
            <a:r>
              <a:rPr lang="en-US" dirty="0"/>
              <a:t>Portfolio Construction Framework -</a:t>
            </a:r>
            <a:r>
              <a:rPr dirty="0"/>
              <a:t>Factor </a:t>
            </a:r>
            <a:r>
              <a:rPr lang="en-US" dirty="0"/>
              <a:t>Overview</a:t>
            </a:r>
            <a:endParaRPr dirty="0"/>
          </a:p>
        </p:txBody>
      </p:sp>
      <p:graphicFrame>
        <p:nvGraphicFramePr>
          <p:cNvPr id="3" name="Table 2">
            <a:extLst>
              <a:ext uri="{FF2B5EF4-FFF2-40B4-BE49-F238E27FC236}">
                <a16:creationId xmlns:a16="http://schemas.microsoft.com/office/drawing/2014/main" id="{8ACF6EB6-DABB-C69A-C928-A9ABD83F801D}"/>
              </a:ext>
            </a:extLst>
          </p:cNvPr>
          <p:cNvGraphicFramePr>
            <a:graphicFrameLocks noGrp="1"/>
          </p:cNvGraphicFramePr>
          <p:nvPr>
            <p:extLst>
              <p:ext uri="{D42A27DB-BD31-4B8C-83A1-F6EECF244321}">
                <p14:modId xmlns:p14="http://schemas.microsoft.com/office/powerpoint/2010/main" val="3240177376"/>
              </p:ext>
            </p:extLst>
          </p:nvPr>
        </p:nvGraphicFramePr>
        <p:xfrm>
          <a:off x="1654277" y="842448"/>
          <a:ext cx="8883446" cy="5173105"/>
        </p:xfrm>
        <a:graphic>
          <a:graphicData uri="http://schemas.openxmlformats.org/drawingml/2006/table">
            <a:tbl>
              <a:tblPr firstRow="1" bandRow="1">
                <a:tableStyleId>{5C22544A-7EE6-4342-B048-85BDC9FD1C3A}</a:tableStyleId>
              </a:tblPr>
              <a:tblGrid>
                <a:gridCol w="4441723">
                  <a:extLst>
                    <a:ext uri="{9D8B030D-6E8A-4147-A177-3AD203B41FA5}">
                      <a16:colId xmlns:a16="http://schemas.microsoft.com/office/drawing/2014/main" val="20000"/>
                    </a:ext>
                  </a:extLst>
                </a:gridCol>
                <a:gridCol w="4441723">
                  <a:extLst>
                    <a:ext uri="{9D8B030D-6E8A-4147-A177-3AD203B41FA5}">
                      <a16:colId xmlns:a16="http://schemas.microsoft.com/office/drawing/2014/main" val="20001"/>
                    </a:ext>
                  </a:extLst>
                </a:gridCol>
              </a:tblGrid>
              <a:tr h="630866">
                <a:tc>
                  <a:txBody>
                    <a:bodyPr/>
                    <a:lstStyle/>
                    <a:p>
                      <a:pPr>
                        <a:defRPr sz="1400"/>
                      </a:pPr>
                      <a:r>
                        <a:rPr sz="1800" dirty="0"/>
                        <a:t>Factor</a:t>
                      </a:r>
                      <a:r>
                        <a:rPr lang="en-US" sz="1800" dirty="0"/>
                        <a:t> Groups Overview</a:t>
                      </a:r>
                      <a:endParaRPr sz="1800" dirty="0"/>
                    </a:p>
                  </a:txBody>
                  <a:tcPr/>
                </a:tc>
                <a:tc>
                  <a:txBody>
                    <a:bodyPr/>
                    <a:lstStyle/>
                    <a:p>
                      <a:pPr>
                        <a:defRPr sz="1400"/>
                      </a:pPr>
                      <a:r>
                        <a:rPr sz="1800" dirty="0"/>
                        <a:t>Intuition in One Sentence</a:t>
                      </a:r>
                    </a:p>
                  </a:txBody>
                  <a:tcPr/>
                </a:tc>
                <a:extLst>
                  <a:ext uri="{0D108BD9-81ED-4DB2-BD59-A6C34878D82A}">
                    <a16:rowId xmlns:a16="http://schemas.microsoft.com/office/drawing/2014/main" val="10000"/>
                  </a:ext>
                </a:extLst>
              </a:tr>
              <a:tr h="883213">
                <a:tc>
                  <a:txBody>
                    <a:bodyPr/>
                    <a:lstStyle/>
                    <a:p>
                      <a:pPr>
                        <a:defRPr sz="1400"/>
                      </a:pPr>
                      <a:r>
                        <a:rPr b="1" dirty="0"/>
                        <a:t>Value</a:t>
                      </a:r>
                      <a:r>
                        <a:rPr lang="en-US" dirty="0"/>
                        <a:t> (“</a:t>
                      </a:r>
                      <a:r>
                        <a:rPr lang="en-US" b="0" dirty="0"/>
                        <a:t>cheapness</a:t>
                      </a:r>
                      <a:r>
                        <a:rPr lang="en-US" dirty="0"/>
                        <a:t>”)</a:t>
                      </a:r>
                      <a:endParaRPr dirty="0"/>
                    </a:p>
                  </a:txBody>
                  <a:tcPr/>
                </a:tc>
                <a:tc>
                  <a:txBody>
                    <a:bodyPr/>
                    <a:lstStyle/>
                    <a:p>
                      <a:pPr>
                        <a:defRPr sz="1400"/>
                      </a:pPr>
                      <a:r>
                        <a:rPr dirty="0"/>
                        <a:t>Companies priced low relative to fundamentals may offer higher long-term returns as prices revert to intrinsic value.</a:t>
                      </a:r>
                    </a:p>
                  </a:txBody>
                  <a:tcPr/>
                </a:tc>
                <a:extLst>
                  <a:ext uri="{0D108BD9-81ED-4DB2-BD59-A6C34878D82A}">
                    <a16:rowId xmlns:a16="http://schemas.microsoft.com/office/drawing/2014/main" val="10001"/>
                  </a:ext>
                </a:extLst>
              </a:tr>
              <a:tr h="883213">
                <a:tc>
                  <a:txBody>
                    <a:bodyPr/>
                    <a:lstStyle/>
                    <a:p>
                      <a:pPr>
                        <a:defRPr sz="1400"/>
                      </a:pPr>
                      <a:r>
                        <a:rPr b="1" dirty="0"/>
                        <a:t>Quality</a:t>
                      </a:r>
                      <a:r>
                        <a:rPr lang="en-US" dirty="0"/>
                        <a:t> (“profitability”)</a:t>
                      </a:r>
                      <a:endParaRPr dirty="0"/>
                    </a:p>
                  </a:txBody>
                  <a:tcPr/>
                </a:tc>
                <a:tc>
                  <a:txBody>
                    <a:bodyPr/>
                    <a:lstStyle/>
                    <a:p>
                      <a:pPr>
                        <a:defRPr sz="1400"/>
                      </a:pPr>
                      <a:r>
                        <a:rPr dirty="0"/>
                        <a:t>Firms generating consistent profitability often sustain competitive advantages and compound value over time.</a:t>
                      </a:r>
                    </a:p>
                  </a:txBody>
                  <a:tcPr/>
                </a:tc>
                <a:extLst>
                  <a:ext uri="{0D108BD9-81ED-4DB2-BD59-A6C34878D82A}">
                    <a16:rowId xmlns:a16="http://schemas.microsoft.com/office/drawing/2014/main" val="10002"/>
                  </a:ext>
                </a:extLst>
              </a:tr>
              <a:tr h="883213">
                <a:tc>
                  <a:txBody>
                    <a:bodyPr/>
                    <a:lstStyle/>
                    <a:p>
                      <a:pPr>
                        <a:defRPr sz="1400"/>
                      </a:pPr>
                      <a:r>
                        <a:rPr b="1" dirty="0"/>
                        <a:t>Financial</a:t>
                      </a:r>
                      <a:r>
                        <a:rPr dirty="0"/>
                        <a:t> </a:t>
                      </a:r>
                      <a:r>
                        <a:rPr b="1" dirty="0"/>
                        <a:t>Strength</a:t>
                      </a:r>
                      <a:r>
                        <a:rPr lang="en-US" dirty="0"/>
                        <a:t> (“resilience”)</a:t>
                      </a:r>
                      <a:endParaRPr dirty="0"/>
                    </a:p>
                  </a:txBody>
                  <a:tcPr/>
                </a:tc>
                <a:tc>
                  <a:txBody>
                    <a:bodyPr/>
                    <a:lstStyle/>
                    <a:p>
                      <a:pPr>
                        <a:defRPr sz="1400"/>
                      </a:pPr>
                      <a:r>
                        <a:rPr dirty="0"/>
                        <a:t>Companies with strong balance sheets and low leverage can better withstand economic downturns.</a:t>
                      </a:r>
                    </a:p>
                  </a:txBody>
                  <a:tcPr/>
                </a:tc>
                <a:extLst>
                  <a:ext uri="{0D108BD9-81ED-4DB2-BD59-A6C34878D82A}">
                    <a16:rowId xmlns:a16="http://schemas.microsoft.com/office/drawing/2014/main" val="10003"/>
                  </a:ext>
                </a:extLst>
              </a:tr>
              <a:tr h="630866">
                <a:tc>
                  <a:txBody>
                    <a:bodyPr/>
                    <a:lstStyle/>
                    <a:p>
                      <a:pPr>
                        <a:defRPr sz="1400"/>
                      </a:pPr>
                      <a:r>
                        <a:rPr b="1" dirty="0"/>
                        <a:t>Momentum</a:t>
                      </a:r>
                      <a:r>
                        <a:rPr lang="en-US" dirty="0"/>
                        <a:t> (‘trend”)</a:t>
                      </a:r>
                      <a:endParaRPr dirty="0"/>
                    </a:p>
                  </a:txBody>
                  <a:tcPr/>
                </a:tc>
                <a:tc>
                  <a:txBody>
                    <a:bodyPr/>
                    <a:lstStyle/>
                    <a:p>
                      <a:pPr>
                        <a:defRPr sz="1400"/>
                      </a:pPr>
                      <a:r>
                        <a:rPr dirty="0"/>
                        <a:t>Stocks that have performed well recently tend to continue outperforming as positive trends persist.</a:t>
                      </a:r>
                    </a:p>
                  </a:txBody>
                  <a:tcPr/>
                </a:tc>
                <a:extLst>
                  <a:ext uri="{0D108BD9-81ED-4DB2-BD59-A6C34878D82A}">
                    <a16:rowId xmlns:a16="http://schemas.microsoft.com/office/drawing/2014/main" val="10004"/>
                  </a:ext>
                </a:extLst>
              </a:tr>
              <a:tr h="630866">
                <a:tc>
                  <a:txBody>
                    <a:bodyPr/>
                    <a:lstStyle/>
                    <a:p>
                      <a:pPr>
                        <a:defRPr sz="1400"/>
                      </a:pPr>
                      <a:r>
                        <a:rPr b="1" dirty="0"/>
                        <a:t>Volatility</a:t>
                      </a:r>
                      <a:r>
                        <a:rPr dirty="0"/>
                        <a:t> / Risk</a:t>
                      </a:r>
                      <a:r>
                        <a:rPr lang="en-US" dirty="0"/>
                        <a:t> (“stability”)</a:t>
                      </a:r>
                      <a:endParaRPr dirty="0"/>
                    </a:p>
                  </a:txBody>
                  <a:tcPr/>
                </a:tc>
                <a:tc>
                  <a:txBody>
                    <a:bodyPr/>
                    <a:lstStyle/>
                    <a:p>
                      <a:pPr>
                        <a:defRPr sz="1400"/>
                      </a:pPr>
                      <a:r>
                        <a:rPr dirty="0"/>
                        <a:t>Lower-volatility stocks can provide smoother, risk-efficient returns over long horizons.</a:t>
                      </a:r>
                    </a:p>
                  </a:txBody>
                  <a:tcPr/>
                </a:tc>
                <a:extLst>
                  <a:ext uri="{0D108BD9-81ED-4DB2-BD59-A6C34878D82A}">
                    <a16:rowId xmlns:a16="http://schemas.microsoft.com/office/drawing/2014/main" val="10005"/>
                  </a:ext>
                </a:extLst>
              </a:tr>
              <a:tr h="630868">
                <a:tc>
                  <a:txBody>
                    <a:bodyPr/>
                    <a:lstStyle/>
                    <a:p>
                      <a:pPr>
                        <a:defRPr sz="1400"/>
                      </a:pPr>
                      <a:r>
                        <a:rPr b="1" dirty="0"/>
                        <a:t>Liquidity</a:t>
                      </a:r>
                      <a:r>
                        <a:rPr lang="en-US" dirty="0"/>
                        <a:t> (“tradeable”)</a:t>
                      </a:r>
                      <a:endParaRPr dirty="0"/>
                    </a:p>
                  </a:txBody>
                  <a:tcPr/>
                </a:tc>
                <a:tc>
                  <a:txBody>
                    <a:bodyPr/>
                    <a:lstStyle/>
                    <a:p>
                      <a:pPr>
                        <a:defRPr sz="1400"/>
                      </a:pPr>
                      <a:r>
                        <a:rPr dirty="0"/>
                        <a:t>More liquid stocks reduce trading costs and support scalable portfolio construction.</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20024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97C80-51C6-234A-81BB-FDB981822D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0F8F74-BD36-7DA5-D01E-A57605B00FBA}"/>
              </a:ext>
            </a:extLst>
          </p:cNvPr>
          <p:cNvSpPr txBox="1"/>
          <p:nvPr/>
        </p:nvSpPr>
        <p:spPr>
          <a:xfrm>
            <a:off x="0" y="0"/>
            <a:ext cx="7458324" cy="584775"/>
          </a:xfrm>
          <a:prstGeom prst="rect">
            <a:avLst/>
          </a:prstGeom>
          <a:noFill/>
        </p:spPr>
        <p:txBody>
          <a:bodyPr wrap="none">
            <a:spAutoFit/>
          </a:bodyPr>
          <a:lstStyle/>
          <a:p>
            <a:pPr>
              <a:defRPr sz="3200" b="1"/>
            </a:pPr>
            <a:r>
              <a:rPr dirty="0"/>
              <a:t>Factor </a:t>
            </a:r>
            <a:r>
              <a:rPr lang="en-US" dirty="0"/>
              <a:t>Build Components – 11 Features</a:t>
            </a:r>
            <a:endParaRPr dirty="0"/>
          </a:p>
        </p:txBody>
      </p:sp>
      <p:graphicFrame>
        <p:nvGraphicFramePr>
          <p:cNvPr id="3" name="Table 2">
            <a:extLst>
              <a:ext uri="{FF2B5EF4-FFF2-40B4-BE49-F238E27FC236}">
                <a16:creationId xmlns:a16="http://schemas.microsoft.com/office/drawing/2014/main" id="{CA8BA2A8-8013-0880-515F-4703DDA83207}"/>
              </a:ext>
            </a:extLst>
          </p:cNvPr>
          <p:cNvGraphicFramePr>
            <a:graphicFrameLocks noGrp="1"/>
          </p:cNvGraphicFramePr>
          <p:nvPr/>
        </p:nvGraphicFramePr>
        <p:xfrm>
          <a:off x="995515" y="1111045"/>
          <a:ext cx="10200970" cy="4793951"/>
        </p:xfrm>
        <a:graphic>
          <a:graphicData uri="http://schemas.openxmlformats.org/drawingml/2006/table">
            <a:tbl>
              <a:tblPr firstRow="1" bandRow="1">
                <a:tableStyleId>{5C22544A-7EE6-4342-B048-85BDC9FD1C3A}</a:tableStyleId>
              </a:tblPr>
              <a:tblGrid>
                <a:gridCol w="5100485">
                  <a:extLst>
                    <a:ext uri="{9D8B030D-6E8A-4147-A177-3AD203B41FA5}">
                      <a16:colId xmlns:a16="http://schemas.microsoft.com/office/drawing/2014/main" val="20000"/>
                    </a:ext>
                  </a:extLst>
                </a:gridCol>
                <a:gridCol w="5100485">
                  <a:extLst>
                    <a:ext uri="{9D8B030D-6E8A-4147-A177-3AD203B41FA5}">
                      <a16:colId xmlns:a16="http://schemas.microsoft.com/office/drawing/2014/main" val="20001"/>
                    </a:ext>
                  </a:extLst>
                </a:gridCol>
              </a:tblGrid>
              <a:tr h="427230">
                <a:tc gridSpan="2">
                  <a:txBody>
                    <a:bodyPr/>
                    <a:lstStyle/>
                    <a:p>
                      <a:pPr>
                        <a:defRPr sz="1400"/>
                      </a:pPr>
                      <a:r>
                        <a:rPr sz="1800" dirty="0"/>
                        <a:t>Factor</a:t>
                      </a:r>
                      <a:r>
                        <a:rPr lang="en-US" sz="1800" dirty="0"/>
                        <a:t> Component Overviews</a:t>
                      </a:r>
                      <a:endParaRPr sz="1800" dirty="0"/>
                    </a:p>
                  </a:txBody>
                  <a:tcPr/>
                </a:tc>
                <a:tc hMerge="1">
                  <a:txBody>
                    <a:bodyPr/>
                    <a:lstStyle/>
                    <a:p>
                      <a:pPr>
                        <a:defRPr sz="1400"/>
                      </a:pPr>
                      <a:endParaRPr sz="1400" dirty="0"/>
                    </a:p>
                  </a:txBody>
                  <a:tcPr/>
                </a:tc>
                <a:extLst>
                  <a:ext uri="{0D108BD9-81ED-4DB2-BD59-A6C34878D82A}">
                    <a16:rowId xmlns:a16="http://schemas.microsoft.com/office/drawing/2014/main" val="10000"/>
                  </a:ext>
                </a:extLst>
              </a:tr>
              <a:tr h="2142198">
                <a:tc>
                  <a:txBody>
                    <a:bodyPr/>
                    <a:lstStyle/>
                    <a:p>
                      <a:pPr>
                        <a:spcAft>
                          <a:spcPts val="600"/>
                        </a:spcAft>
                        <a:defRPr sz="1400"/>
                      </a:pPr>
                      <a:r>
                        <a:rPr lang="en-US" sz="1400" b="1" dirty="0"/>
                        <a:t>VALUE</a:t>
                      </a:r>
                      <a:r>
                        <a:rPr lang="en-US" sz="1400" dirty="0"/>
                        <a:t> (“</a:t>
                      </a:r>
                      <a:r>
                        <a:rPr lang="en-US" sz="1400" b="0" dirty="0"/>
                        <a:t>cheapness</a:t>
                      </a:r>
                      <a:r>
                        <a:rPr lang="en-US" sz="1400" dirty="0"/>
                        <a:t>”)</a:t>
                      </a:r>
                    </a:p>
                    <a:p>
                      <a:r>
                        <a:rPr lang="en-US" sz="1400" b="0" i="1" u="sng" dirty="0"/>
                        <a:t>Earnings Yield</a:t>
                      </a:r>
                    </a:p>
                    <a:p>
                      <a:r>
                        <a:rPr lang="en-US" sz="1400" dirty="0"/>
                        <a:t>Higher earnings relative to price signal a cheaper, potentially undervalued stock.</a:t>
                      </a:r>
                    </a:p>
                    <a:p>
                      <a:r>
                        <a:rPr lang="en-US" sz="1400" b="0" i="1" u="sng" dirty="0"/>
                        <a:t>Book/Price</a:t>
                      </a:r>
                    </a:p>
                    <a:p>
                      <a:r>
                        <a:rPr lang="en-US" sz="1400" dirty="0"/>
                        <a:t>Low price vs. book value points to assets selling at a discount.</a:t>
                      </a:r>
                    </a:p>
                    <a:p>
                      <a:r>
                        <a:rPr lang="en-US" sz="1400" b="0" i="1" u="sng" dirty="0"/>
                        <a:t>Sales/Price</a:t>
                      </a:r>
                    </a:p>
                    <a:p>
                      <a:r>
                        <a:rPr lang="en-US" sz="1400" dirty="0"/>
                        <a:t>High sales relative to price indicate inexpensive revenue exposure.</a:t>
                      </a:r>
                    </a:p>
                  </a:txBody>
                  <a:tcPr/>
                </a:tc>
                <a:tc>
                  <a:txBody>
                    <a:bodyPr/>
                    <a:lstStyle/>
                    <a:p>
                      <a:pPr>
                        <a:spcAft>
                          <a:spcPts val="600"/>
                        </a:spcAft>
                        <a:defRPr sz="1400"/>
                      </a:pPr>
                      <a:r>
                        <a:rPr lang="en-US" sz="1400" b="1" dirty="0"/>
                        <a:t>QUALITY</a:t>
                      </a:r>
                      <a:r>
                        <a:rPr lang="en-US" sz="1400" dirty="0"/>
                        <a:t> (“profitability”)</a:t>
                      </a:r>
                    </a:p>
                    <a:p>
                      <a:r>
                        <a:rPr lang="en-US" sz="1400" b="0" i="1" u="sng" dirty="0"/>
                        <a:t>ROE</a:t>
                      </a:r>
                    </a:p>
                    <a:p>
                      <a:r>
                        <a:rPr lang="en-US" sz="1400" dirty="0"/>
                        <a:t>High ROE reflects efficient use of shareholder capital.</a:t>
                      </a:r>
                    </a:p>
                    <a:p>
                      <a:r>
                        <a:rPr lang="en-US" sz="1400" b="0" i="1" u="sng" dirty="0"/>
                        <a:t>ROA</a:t>
                      </a:r>
                    </a:p>
                    <a:p>
                      <a:r>
                        <a:rPr lang="en-US" sz="1400" dirty="0"/>
                        <a:t>High ROA signals strong operational efficiency.</a:t>
                      </a:r>
                    </a:p>
                    <a:p>
                      <a:endParaRPr lang="en-US" sz="1400" b="0" i="1" u="sng" dirty="0"/>
                    </a:p>
                    <a:p>
                      <a:r>
                        <a:rPr lang="en-US" sz="1400" b="0" i="1" u="sng" dirty="0"/>
                        <a:t>Gross Profitability</a:t>
                      </a:r>
                    </a:p>
                    <a:p>
                      <a:r>
                        <a:rPr lang="en-US" sz="1400" dirty="0"/>
                        <a:t>Strong gross profits suggest durable competitive advantages.</a:t>
                      </a:r>
                    </a:p>
                    <a:p>
                      <a:pPr>
                        <a:spcAft>
                          <a:spcPts val="600"/>
                        </a:spcAft>
                        <a:defRPr sz="1400"/>
                      </a:pPr>
                      <a:endParaRPr lang="en-US" sz="1400" dirty="0"/>
                    </a:p>
                  </a:txBody>
                  <a:tcPr/>
                </a:tc>
                <a:extLst>
                  <a:ext uri="{0D108BD9-81ED-4DB2-BD59-A6C34878D82A}">
                    <a16:rowId xmlns:a16="http://schemas.microsoft.com/office/drawing/2014/main" val="10001"/>
                  </a:ext>
                </a:extLst>
              </a:tr>
              <a:tr h="665746">
                <a:tc>
                  <a:txBody>
                    <a:bodyPr/>
                    <a:lstStyle/>
                    <a:p>
                      <a:pPr>
                        <a:spcAft>
                          <a:spcPts val="600"/>
                        </a:spcAft>
                        <a:defRPr sz="1400"/>
                      </a:pPr>
                      <a:r>
                        <a:rPr lang="en-US" sz="1400" b="1" dirty="0"/>
                        <a:t>FINANCIAL STRENGTH </a:t>
                      </a:r>
                      <a:r>
                        <a:rPr lang="en-US" sz="1400" dirty="0"/>
                        <a:t>(“resilience”)</a:t>
                      </a:r>
                    </a:p>
                    <a:p>
                      <a:r>
                        <a:rPr lang="en-US" sz="1400" b="0" i="1" u="sng" dirty="0"/>
                        <a:t>Leverage (Debt/Assets)</a:t>
                      </a:r>
                    </a:p>
                    <a:p>
                      <a:r>
                        <a:rPr lang="en-US" sz="1400" dirty="0"/>
                        <a:t>Lower leverage reduces financial distress risk.</a:t>
                      </a:r>
                    </a:p>
                    <a:p>
                      <a:r>
                        <a:rPr lang="en-US" sz="1400" b="0" i="1" u="sng" dirty="0"/>
                        <a:t>Cash Flow to Debt</a:t>
                      </a:r>
                    </a:p>
                    <a:p>
                      <a:r>
                        <a:rPr lang="en-US" sz="1400" dirty="0"/>
                        <a:t>Stronger cash flow improves debt-servicing capacity.</a:t>
                      </a:r>
                    </a:p>
                  </a:txBody>
                  <a:tcPr/>
                </a:tc>
                <a:tc>
                  <a:txBody>
                    <a:bodyPr/>
                    <a:lstStyle/>
                    <a:p>
                      <a:pPr>
                        <a:spcAft>
                          <a:spcPts val="600"/>
                        </a:spcAft>
                        <a:defRPr sz="1400"/>
                      </a:pPr>
                      <a:r>
                        <a:rPr lang="en-US" sz="1400" b="1" dirty="0"/>
                        <a:t>MOMENTUM </a:t>
                      </a:r>
                      <a:r>
                        <a:rPr lang="en-US" sz="1400" dirty="0"/>
                        <a:t>(‘trend”)</a:t>
                      </a:r>
                    </a:p>
                    <a:p>
                      <a:r>
                        <a:rPr lang="en-US" sz="1400" b="0" i="1" u="sng" dirty="0"/>
                        <a:t>12-Month Price Momentum</a:t>
                      </a:r>
                    </a:p>
                    <a:p>
                      <a:r>
                        <a:rPr lang="en-US" sz="1400" dirty="0"/>
                        <a:t>Recent winners often continue trending upward.</a:t>
                      </a:r>
                    </a:p>
                    <a:p>
                      <a:pPr>
                        <a:spcAft>
                          <a:spcPts val="600"/>
                        </a:spcAft>
                        <a:defRPr sz="1400"/>
                      </a:pPr>
                      <a:endParaRPr lang="en-US" sz="1400" dirty="0"/>
                    </a:p>
                  </a:txBody>
                  <a:tcPr/>
                </a:tc>
                <a:extLst>
                  <a:ext uri="{0D108BD9-81ED-4DB2-BD59-A6C34878D82A}">
                    <a16:rowId xmlns:a16="http://schemas.microsoft.com/office/drawing/2014/main" val="10002"/>
                  </a:ext>
                </a:extLst>
              </a:tr>
              <a:tr h="99008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sz="1400"/>
                      </a:pPr>
                      <a:r>
                        <a:rPr lang="en-US" sz="1400" b="1" dirty="0"/>
                        <a:t>VOLATILITY / RISK</a:t>
                      </a:r>
                      <a:r>
                        <a:rPr lang="en-US" sz="1400" dirty="0"/>
                        <a:t>(“stability”)</a:t>
                      </a:r>
                    </a:p>
                    <a:p>
                      <a:r>
                        <a:rPr lang="en-US" sz="1400" b="0" i="1" u="sng" dirty="0"/>
                        <a:t>60-Day Volatility</a:t>
                      </a:r>
                    </a:p>
                    <a:p>
                      <a:r>
                        <a:rPr lang="en-US" sz="1400" dirty="0"/>
                        <a:t>Lower short-term volatility reflects more stable stock behavior.</a:t>
                      </a:r>
                    </a:p>
                  </a:txBody>
                  <a:tcPr/>
                </a:tc>
                <a:tc>
                  <a:txBody>
                    <a:bodyPr/>
                    <a:lstStyle/>
                    <a:p>
                      <a:pPr>
                        <a:spcAft>
                          <a:spcPts val="600"/>
                        </a:spcAft>
                        <a:defRPr sz="1400"/>
                      </a:pPr>
                      <a:r>
                        <a:rPr lang="en-US" sz="1400" b="1" dirty="0"/>
                        <a:t>LIQUIDITY</a:t>
                      </a:r>
                      <a:r>
                        <a:rPr lang="en-US" sz="1400" dirty="0"/>
                        <a:t> (“tradeable”)</a:t>
                      </a:r>
                    </a:p>
                    <a:p>
                      <a:r>
                        <a:rPr lang="en-US" sz="1400" b="0" i="1" u="sng" dirty="0"/>
                        <a:t>3-Month Average Daily Dollar Volume</a:t>
                      </a:r>
                    </a:p>
                    <a:p>
                      <a:r>
                        <a:rPr lang="en-US" sz="1400" dirty="0"/>
                        <a:t>Higher liquidity lowers trading costs and improves scalability.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767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FDD1-0B7B-B1F0-EAA5-A0490624D9AA}"/>
            </a:ext>
          </a:extLst>
        </p:cNvPr>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99B43D4A-8738-CDEA-6E84-293331478A43}"/>
              </a:ext>
            </a:extLst>
          </p:cNvPr>
          <p:cNvCxnSpPr/>
          <p:nvPr/>
        </p:nvCxnSpPr>
        <p:spPr>
          <a:xfrm>
            <a:off x="3362809" y="2490642"/>
            <a:ext cx="0" cy="320040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E22D72A-80F7-7858-5CB2-0EEE93BDC849}"/>
              </a:ext>
            </a:extLst>
          </p:cNvPr>
          <p:cNvCxnSpPr>
            <a:cxnSpLocks/>
          </p:cNvCxnSpPr>
          <p:nvPr/>
        </p:nvCxnSpPr>
        <p:spPr>
          <a:xfrm>
            <a:off x="1762609" y="4067577"/>
            <a:ext cx="32004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EECCADE-8395-85A8-63EC-646C767E6D86}"/>
              </a:ext>
            </a:extLst>
          </p:cNvPr>
          <p:cNvSpPr txBox="1"/>
          <p:nvPr/>
        </p:nvSpPr>
        <p:spPr>
          <a:xfrm>
            <a:off x="3763035" y="3284989"/>
            <a:ext cx="1442165" cy="769441"/>
          </a:xfrm>
          <a:prstGeom prst="rect">
            <a:avLst/>
          </a:prstGeom>
          <a:noFill/>
        </p:spPr>
        <p:txBody>
          <a:bodyPr wrap="square">
            <a:spAutoFit/>
          </a:bodyPr>
          <a:lstStyle/>
          <a:p>
            <a:r>
              <a:rPr lang="en-US" sz="1100" b="1" i="1" u="sng" dirty="0"/>
              <a:t>PC1 High</a:t>
            </a:r>
          </a:p>
          <a:p>
            <a:pPr marL="171450" indent="-171450">
              <a:buFont typeface="Arial" panose="020B0604020202020204" pitchFamily="34" charset="0"/>
              <a:buChar char="•"/>
            </a:pPr>
            <a:r>
              <a:rPr lang="en-US" sz="1100" i="1" dirty="0"/>
              <a:t>high-quality</a:t>
            </a:r>
          </a:p>
          <a:p>
            <a:pPr marL="171450" indent="-171450">
              <a:buFont typeface="Arial" panose="020B0604020202020204" pitchFamily="34" charset="0"/>
              <a:buChar char="•"/>
            </a:pPr>
            <a:r>
              <a:rPr lang="en-US" sz="1100" i="1" dirty="0"/>
              <a:t>profitable</a:t>
            </a:r>
          </a:p>
          <a:p>
            <a:pPr marL="171450" indent="-171450">
              <a:buFont typeface="Arial" panose="020B0604020202020204" pitchFamily="34" charset="0"/>
              <a:buChar char="•"/>
            </a:pPr>
            <a:r>
              <a:rPr lang="en-US" sz="1100" i="1" dirty="0"/>
              <a:t>financially strong</a:t>
            </a:r>
          </a:p>
        </p:txBody>
      </p:sp>
      <p:sp>
        <p:nvSpPr>
          <p:cNvPr id="16" name="TextBox 15">
            <a:extLst>
              <a:ext uri="{FF2B5EF4-FFF2-40B4-BE49-F238E27FC236}">
                <a16:creationId xmlns:a16="http://schemas.microsoft.com/office/drawing/2014/main" id="{8A6575B0-0544-BBC5-FA72-F9BE59C611EC}"/>
              </a:ext>
            </a:extLst>
          </p:cNvPr>
          <p:cNvSpPr txBox="1"/>
          <p:nvPr/>
        </p:nvSpPr>
        <p:spPr>
          <a:xfrm>
            <a:off x="1784289" y="4065307"/>
            <a:ext cx="1442165" cy="769441"/>
          </a:xfrm>
          <a:prstGeom prst="rect">
            <a:avLst/>
          </a:prstGeom>
          <a:noFill/>
        </p:spPr>
        <p:txBody>
          <a:bodyPr wrap="square">
            <a:spAutoFit/>
          </a:bodyPr>
          <a:lstStyle/>
          <a:p>
            <a:r>
              <a:rPr lang="en-US" sz="1100" b="1" u="sng" dirty="0"/>
              <a:t>PC1 Low</a:t>
            </a:r>
          </a:p>
          <a:p>
            <a:pPr marL="171450" indent="-171450">
              <a:buFont typeface="Arial" panose="020B0604020202020204" pitchFamily="34" charset="0"/>
              <a:buChar char="•"/>
            </a:pPr>
            <a:r>
              <a:rPr lang="en-US" sz="1100" dirty="0"/>
              <a:t>riskier</a:t>
            </a:r>
          </a:p>
          <a:p>
            <a:pPr marL="171450" indent="-171450">
              <a:buFont typeface="Arial" panose="020B0604020202020204" pitchFamily="34" charset="0"/>
              <a:buChar char="•"/>
            </a:pPr>
            <a:r>
              <a:rPr lang="en-US" sz="1100" i="1" dirty="0"/>
              <a:t>lower-quality</a:t>
            </a:r>
          </a:p>
          <a:p>
            <a:pPr marL="171450" indent="-171450">
              <a:buFont typeface="Arial" panose="020B0604020202020204" pitchFamily="34" charset="0"/>
              <a:buChar char="•"/>
            </a:pPr>
            <a:r>
              <a:rPr lang="en-US" sz="1100" dirty="0"/>
              <a:t>volatile</a:t>
            </a:r>
          </a:p>
        </p:txBody>
      </p:sp>
      <p:sp>
        <p:nvSpPr>
          <p:cNvPr id="19" name="TextBox 18">
            <a:extLst>
              <a:ext uri="{FF2B5EF4-FFF2-40B4-BE49-F238E27FC236}">
                <a16:creationId xmlns:a16="http://schemas.microsoft.com/office/drawing/2014/main" id="{0F71AB3D-5F24-463E-0B0B-5D0B08FB28BB}"/>
              </a:ext>
            </a:extLst>
          </p:cNvPr>
          <p:cNvSpPr txBox="1"/>
          <p:nvPr/>
        </p:nvSpPr>
        <p:spPr>
          <a:xfrm>
            <a:off x="2417130" y="2491895"/>
            <a:ext cx="961724" cy="769441"/>
          </a:xfrm>
          <a:prstGeom prst="rect">
            <a:avLst/>
          </a:prstGeom>
          <a:noFill/>
        </p:spPr>
        <p:txBody>
          <a:bodyPr wrap="square">
            <a:spAutoFit/>
          </a:bodyPr>
          <a:lstStyle/>
          <a:p>
            <a:r>
              <a:rPr lang="en-US" sz="1100" b="1" i="1" u="sng" dirty="0"/>
              <a:t>PC2 High</a:t>
            </a:r>
          </a:p>
          <a:p>
            <a:pPr marL="171450" indent="-171450">
              <a:buFont typeface="Arial" panose="020B0604020202020204" pitchFamily="34" charset="0"/>
              <a:buChar char="•"/>
            </a:pPr>
            <a:r>
              <a:rPr lang="en-US" sz="1100" i="1" dirty="0"/>
              <a:t>large</a:t>
            </a:r>
          </a:p>
          <a:p>
            <a:pPr marL="171450" indent="-171450">
              <a:buFont typeface="Arial" panose="020B0604020202020204" pitchFamily="34" charset="0"/>
              <a:buChar char="•"/>
            </a:pPr>
            <a:r>
              <a:rPr lang="en-US" sz="1100" i="1" dirty="0"/>
              <a:t>liquid</a:t>
            </a:r>
          </a:p>
          <a:p>
            <a:pPr marL="171450" indent="-171450">
              <a:buFont typeface="Arial" panose="020B0604020202020204" pitchFamily="34" charset="0"/>
              <a:buChar char="•"/>
            </a:pPr>
            <a:r>
              <a:rPr lang="en-US" sz="1100" i="1" dirty="0"/>
              <a:t>leveraged</a:t>
            </a:r>
          </a:p>
        </p:txBody>
      </p:sp>
      <p:sp>
        <p:nvSpPr>
          <p:cNvPr id="20" name="TextBox 19">
            <a:extLst>
              <a:ext uri="{FF2B5EF4-FFF2-40B4-BE49-F238E27FC236}">
                <a16:creationId xmlns:a16="http://schemas.microsoft.com/office/drawing/2014/main" id="{7E480BAF-08AE-6B17-0B36-F7BF2E2F3D9B}"/>
              </a:ext>
            </a:extLst>
          </p:cNvPr>
          <p:cNvSpPr txBox="1"/>
          <p:nvPr/>
        </p:nvSpPr>
        <p:spPr>
          <a:xfrm>
            <a:off x="3324309" y="4907877"/>
            <a:ext cx="1442165" cy="769441"/>
          </a:xfrm>
          <a:prstGeom prst="rect">
            <a:avLst/>
          </a:prstGeom>
          <a:noFill/>
        </p:spPr>
        <p:txBody>
          <a:bodyPr wrap="square">
            <a:spAutoFit/>
          </a:bodyPr>
          <a:lstStyle/>
          <a:p>
            <a:r>
              <a:rPr lang="en-US" sz="1100" b="1" u="sng" dirty="0"/>
              <a:t>PC2 Low</a:t>
            </a:r>
          </a:p>
          <a:p>
            <a:pPr marL="171450" indent="-171450">
              <a:buFont typeface="Arial" panose="020B0604020202020204" pitchFamily="34" charset="0"/>
              <a:buChar char="•"/>
            </a:pPr>
            <a:r>
              <a:rPr lang="en-US" sz="1100" dirty="0"/>
              <a:t>cash-rich</a:t>
            </a:r>
          </a:p>
          <a:p>
            <a:pPr marL="171450" indent="-171450">
              <a:buFont typeface="Arial" panose="020B0604020202020204" pitchFamily="34" charset="0"/>
              <a:buChar char="•"/>
            </a:pPr>
            <a:r>
              <a:rPr lang="en-US" sz="1100" dirty="0"/>
              <a:t>operationally efficient</a:t>
            </a:r>
          </a:p>
        </p:txBody>
      </p:sp>
      <p:sp>
        <p:nvSpPr>
          <p:cNvPr id="28" name="TextBox 27">
            <a:extLst>
              <a:ext uri="{FF2B5EF4-FFF2-40B4-BE49-F238E27FC236}">
                <a16:creationId xmlns:a16="http://schemas.microsoft.com/office/drawing/2014/main" id="{A0293F43-F65B-4DC6-4015-1D26EB47F101}"/>
              </a:ext>
            </a:extLst>
          </p:cNvPr>
          <p:cNvSpPr txBox="1"/>
          <p:nvPr/>
        </p:nvSpPr>
        <p:spPr>
          <a:xfrm>
            <a:off x="5114004" y="3500432"/>
            <a:ext cx="1766356" cy="1107996"/>
          </a:xfrm>
          <a:prstGeom prst="rect">
            <a:avLst/>
          </a:prstGeom>
          <a:noFill/>
        </p:spPr>
        <p:txBody>
          <a:bodyPr wrap="square">
            <a:spAutoFit/>
          </a:bodyPr>
          <a:lstStyle/>
          <a:p>
            <a:pPr>
              <a:buNone/>
            </a:pPr>
            <a:r>
              <a:rPr lang="en-US" sz="1100" u="sng" dirty="0"/>
              <a:t>Strong positive loadings</a:t>
            </a:r>
          </a:p>
          <a:p>
            <a:pPr>
              <a:buFont typeface="Arial" panose="020B0604020202020204" pitchFamily="34" charset="0"/>
              <a:buChar char="•"/>
            </a:pPr>
            <a:r>
              <a:rPr lang="en-US" sz="1100" dirty="0"/>
              <a:t>ROA (0.44); QUAL</a:t>
            </a:r>
          </a:p>
          <a:p>
            <a:pPr>
              <a:buFont typeface="Arial" panose="020B0604020202020204" pitchFamily="34" charset="0"/>
              <a:buChar char="•"/>
            </a:pPr>
            <a:r>
              <a:rPr lang="en-US" sz="1100" dirty="0"/>
              <a:t>ROE (0.36);QUAL</a:t>
            </a:r>
          </a:p>
          <a:p>
            <a:pPr>
              <a:buFont typeface="Arial" panose="020B0604020202020204" pitchFamily="34" charset="0"/>
              <a:buChar char="•"/>
            </a:pPr>
            <a:r>
              <a:rPr lang="en-US" sz="1100" dirty="0"/>
              <a:t>Earnings Yield (0.39); VAL</a:t>
            </a:r>
          </a:p>
          <a:p>
            <a:pPr>
              <a:buFont typeface="Arial" panose="020B0604020202020204" pitchFamily="34" charset="0"/>
              <a:buChar char="•"/>
            </a:pPr>
            <a:r>
              <a:rPr lang="en-US" sz="1100" dirty="0"/>
              <a:t>Cash / Debt (0.36); FS</a:t>
            </a:r>
          </a:p>
          <a:p>
            <a:pPr>
              <a:buFont typeface="Arial" panose="020B0604020202020204" pitchFamily="34" charset="0"/>
              <a:buChar char="•"/>
            </a:pPr>
            <a:r>
              <a:rPr lang="en-US" sz="1100" dirty="0"/>
              <a:t>Momentum (0.26)</a:t>
            </a:r>
          </a:p>
        </p:txBody>
      </p:sp>
      <p:sp>
        <p:nvSpPr>
          <p:cNvPr id="30" name="TextBox 29">
            <a:extLst>
              <a:ext uri="{FF2B5EF4-FFF2-40B4-BE49-F238E27FC236}">
                <a16:creationId xmlns:a16="http://schemas.microsoft.com/office/drawing/2014/main" id="{DD1BF5F0-EE22-0BF7-5961-F7767341BCFB}"/>
              </a:ext>
            </a:extLst>
          </p:cNvPr>
          <p:cNvSpPr txBox="1"/>
          <p:nvPr/>
        </p:nvSpPr>
        <p:spPr>
          <a:xfrm>
            <a:off x="8838" y="3754348"/>
            <a:ext cx="1682006" cy="769441"/>
          </a:xfrm>
          <a:prstGeom prst="rect">
            <a:avLst/>
          </a:prstGeom>
          <a:noFill/>
        </p:spPr>
        <p:txBody>
          <a:bodyPr wrap="square">
            <a:spAutoFit/>
          </a:bodyPr>
          <a:lstStyle/>
          <a:p>
            <a:pPr>
              <a:buNone/>
            </a:pPr>
            <a:r>
              <a:rPr lang="en-US" sz="1100" u="sng" dirty="0"/>
              <a:t>Strong negative loadings</a:t>
            </a:r>
          </a:p>
          <a:p>
            <a:pPr>
              <a:buFont typeface="Arial" panose="020B0604020202020204" pitchFamily="34" charset="0"/>
              <a:buChar char="•"/>
            </a:pPr>
            <a:r>
              <a:rPr lang="en-US" sz="1100" dirty="0"/>
              <a:t>Volatility (−0.34)</a:t>
            </a:r>
          </a:p>
          <a:p>
            <a:pPr>
              <a:buFont typeface="Arial" panose="020B0604020202020204" pitchFamily="34" charset="0"/>
              <a:buChar char="•"/>
            </a:pPr>
            <a:r>
              <a:rPr lang="en-US" sz="1100" dirty="0"/>
              <a:t>Book-to-Market (−0.35);</a:t>
            </a:r>
          </a:p>
          <a:p>
            <a:r>
              <a:rPr lang="en-US" sz="1100" dirty="0"/>
              <a:t>  VAL</a:t>
            </a:r>
          </a:p>
        </p:txBody>
      </p:sp>
      <p:sp>
        <p:nvSpPr>
          <p:cNvPr id="31" name="Rectangle 30">
            <a:extLst>
              <a:ext uri="{FF2B5EF4-FFF2-40B4-BE49-F238E27FC236}">
                <a16:creationId xmlns:a16="http://schemas.microsoft.com/office/drawing/2014/main" id="{F3E2FA2B-370C-1679-8F53-A1479E91F371}"/>
              </a:ext>
            </a:extLst>
          </p:cNvPr>
          <p:cNvSpPr>
            <a:spLocks noChangeAspect="1"/>
          </p:cNvSpPr>
          <p:nvPr/>
        </p:nvSpPr>
        <p:spPr>
          <a:xfrm>
            <a:off x="1625449" y="2317070"/>
            <a:ext cx="3474720" cy="34747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8D727AF-0E3F-C8A6-B5A3-347A33A172FB}"/>
              </a:ext>
            </a:extLst>
          </p:cNvPr>
          <p:cNvSpPr txBox="1"/>
          <p:nvPr/>
        </p:nvSpPr>
        <p:spPr>
          <a:xfrm>
            <a:off x="97955" y="93917"/>
            <a:ext cx="8414449" cy="1323439"/>
          </a:xfrm>
          <a:prstGeom prst="rect">
            <a:avLst/>
          </a:prstGeom>
          <a:noFill/>
        </p:spPr>
        <p:txBody>
          <a:bodyPr wrap="square">
            <a:spAutoFit/>
          </a:bodyPr>
          <a:lstStyle/>
          <a:p>
            <a:r>
              <a:rPr lang="en-US" sz="1600" b="1" dirty="0"/>
              <a:t>Principal Component 1 (PC1): </a:t>
            </a:r>
            <a:r>
              <a:rPr lang="en-US" sz="1600" b="1" i="1" dirty="0"/>
              <a:t>Quality + Financial Strength + Risk composite axis</a:t>
            </a:r>
          </a:p>
          <a:p>
            <a:r>
              <a:rPr lang="en-US" sz="1600" i="1" u="sng" dirty="0"/>
              <a:t>PC1 </a:t>
            </a:r>
            <a:r>
              <a:rPr lang="en-US" sz="1600" b="1" i="1" u="sng" dirty="0"/>
              <a:t>explains ~37.5% </a:t>
            </a:r>
            <a:r>
              <a:rPr lang="en-US" sz="1600" i="1" u="sng" dirty="0"/>
              <a:t>of total variance</a:t>
            </a:r>
          </a:p>
          <a:p>
            <a:pPr>
              <a:buNone/>
            </a:pPr>
            <a:r>
              <a:rPr lang="en-US" sz="1600" i="1" dirty="0"/>
              <a:t>(…But PC1 is not a pure “value” axis…)</a:t>
            </a:r>
            <a:endParaRPr lang="en-US" sz="1600" b="1" i="1" dirty="0"/>
          </a:p>
          <a:p>
            <a:pPr>
              <a:buNone/>
            </a:pPr>
            <a:r>
              <a:rPr lang="en-US" sz="1600" i="1" dirty="0"/>
              <a:t>PC1 ≈ “Quality / Stability / Balance-Sheet Strength”</a:t>
            </a:r>
          </a:p>
          <a:p>
            <a:pPr>
              <a:buNone/>
            </a:pPr>
            <a:r>
              <a:rPr lang="en-US" sz="1600" i="1" dirty="0"/>
              <a:t>This explains why PCA plot shows strong left–right separation</a:t>
            </a:r>
          </a:p>
        </p:txBody>
      </p:sp>
      <p:sp>
        <p:nvSpPr>
          <p:cNvPr id="35" name="TextBox 34">
            <a:extLst>
              <a:ext uri="{FF2B5EF4-FFF2-40B4-BE49-F238E27FC236}">
                <a16:creationId xmlns:a16="http://schemas.microsoft.com/office/drawing/2014/main" id="{9F94EA68-BF81-87F2-B389-AE3AC4558138}"/>
              </a:ext>
            </a:extLst>
          </p:cNvPr>
          <p:cNvSpPr txBox="1"/>
          <p:nvPr/>
        </p:nvSpPr>
        <p:spPr>
          <a:xfrm>
            <a:off x="5800483" y="5494890"/>
            <a:ext cx="6097537" cy="1077218"/>
          </a:xfrm>
          <a:prstGeom prst="rect">
            <a:avLst/>
          </a:prstGeom>
          <a:noFill/>
        </p:spPr>
        <p:txBody>
          <a:bodyPr wrap="square">
            <a:spAutoFit/>
          </a:bodyPr>
          <a:lstStyle/>
          <a:p>
            <a:pPr>
              <a:buNone/>
            </a:pPr>
            <a:r>
              <a:rPr lang="en-US" sz="1600" b="1" dirty="0"/>
              <a:t>Principal component 2 (PC2): C</a:t>
            </a:r>
            <a:r>
              <a:rPr lang="en-US" sz="1600" b="1" i="1" dirty="0"/>
              <a:t>apital-Structure + Liquidity</a:t>
            </a:r>
            <a:r>
              <a:rPr lang="en-US" sz="1600" b="1" dirty="0"/>
              <a:t> axis.</a:t>
            </a:r>
          </a:p>
          <a:p>
            <a:r>
              <a:rPr lang="en-US" sz="1600" i="1" u="sng" dirty="0"/>
              <a:t>PC2 </a:t>
            </a:r>
            <a:r>
              <a:rPr lang="en-US" sz="1600" b="1" i="1" u="sng" dirty="0"/>
              <a:t>explains ~14.6% </a:t>
            </a:r>
            <a:r>
              <a:rPr lang="en-US" sz="1600" i="1" u="sng" dirty="0"/>
              <a:t>of total variance</a:t>
            </a:r>
          </a:p>
          <a:p>
            <a:pPr>
              <a:buNone/>
            </a:pPr>
            <a:r>
              <a:rPr lang="en-US" sz="1600" dirty="0"/>
              <a:t>PC2 ≈ “Size / Leverage / Capital Structure”</a:t>
            </a:r>
          </a:p>
          <a:p>
            <a:pPr>
              <a:buNone/>
            </a:pPr>
            <a:r>
              <a:rPr lang="en-US" sz="1600" dirty="0"/>
              <a:t>This is why clusters separate vertically in PC space.</a:t>
            </a:r>
          </a:p>
        </p:txBody>
      </p:sp>
      <p:sp>
        <p:nvSpPr>
          <p:cNvPr id="37" name="TextBox 36">
            <a:extLst>
              <a:ext uri="{FF2B5EF4-FFF2-40B4-BE49-F238E27FC236}">
                <a16:creationId xmlns:a16="http://schemas.microsoft.com/office/drawing/2014/main" id="{604BC02E-FC78-F238-58EC-5BDF75207517}"/>
              </a:ext>
            </a:extLst>
          </p:cNvPr>
          <p:cNvSpPr txBox="1"/>
          <p:nvPr/>
        </p:nvSpPr>
        <p:spPr>
          <a:xfrm>
            <a:off x="2417130" y="1740931"/>
            <a:ext cx="2437674" cy="600164"/>
          </a:xfrm>
          <a:prstGeom prst="rect">
            <a:avLst/>
          </a:prstGeom>
          <a:noFill/>
        </p:spPr>
        <p:txBody>
          <a:bodyPr wrap="square">
            <a:spAutoFit/>
          </a:bodyPr>
          <a:lstStyle/>
          <a:p>
            <a:pPr>
              <a:buNone/>
            </a:pPr>
            <a:r>
              <a:rPr lang="en-US" sz="1100" u="sng" dirty="0"/>
              <a:t>Strong positive loadings</a:t>
            </a:r>
          </a:p>
          <a:p>
            <a:pPr>
              <a:buFont typeface="Arial" panose="020B0604020202020204" pitchFamily="34" charset="0"/>
              <a:buChar char="•"/>
            </a:pPr>
            <a:r>
              <a:rPr lang="en-US" sz="1100" dirty="0"/>
              <a:t>ADDV (0.54) → liquidity / size</a:t>
            </a:r>
          </a:p>
          <a:p>
            <a:pPr>
              <a:buFont typeface="Arial" panose="020B0604020202020204" pitchFamily="34" charset="0"/>
              <a:buChar char="•"/>
            </a:pPr>
            <a:r>
              <a:rPr lang="en-US" sz="1100" dirty="0"/>
              <a:t>Debt-to-Assets (0.48) → leverage; FS</a:t>
            </a:r>
          </a:p>
        </p:txBody>
      </p:sp>
      <p:sp>
        <p:nvSpPr>
          <p:cNvPr id="39" name="TextBox 38">
            <a:extLst>
              <a:ext uri="{FF2B5EF4-FFF2-40B4-BE49-F238E27FC236}">
                <a16:creationId xmlns:a16="http://schemas.microsoft.com/office/drawing/2014/main" id="{EE96B8E1-5364-BD04-A09C-85FD1E6E15C3}"/>
              </a:ext>
            </a:extLst>
          </p:cNvPr>
          <p:cNvSpPr txBox="1"/>
          <p:nvPr/>
        </p:nvSpPr>
        <p:spPr>
          <a:xfrm>
            <a:off x="2599377" y="5802667"/>
            <a:ext cx="2255427" cy="769441"/>
          </a:xfrm>
          <a:prstGeom prst="rect">
            <a:avLst/>
          </a:prstGeom>
          <a:noFill/>
        </p:spPr>
        <p:txBody>
          <a:bodyPr wrap="square">
            <a:spAutoFit/>
          </a:bodyPr>
          <a:lstStyle/>
          <a:p>
            <a:pPr>
              <a:buNone/>
            </a:pPr>
            <a:r>
              <a:rPr lang="en-US" sz="1100" u="sng" dirty="0"/>
              <a:t>Strong negative loadings</a:t>
            </a:r>
          </a:p>
          <a:p>
            <a:pPr>
              <a:buFont typeface="Arial" panose="020B0604020202020204" pitchFamily="34" charset="0"/>
              <a:buChar char="•"/>
            </a:pPr>
            <a:r>
              <a:rPr lang="en-US" sz="1100" dirty="0"/>
              <a:t>Cash / Debt (−0.34); FS</a:t>
            </a:r>
          </a:p>
          <a:p>
            <a:pPr>
              <a:buFont typeface="Arial" panose="020B0604020202020204" pitchFamily="34" charset="0"/>
              <a:buChar char="•"/>
            </a:pPr>
            <a:r>
              <a:rPr lang="en-US" sz="1100" dirty="0"/>
              <a:t>Sales-to-Price (−0.29); VAL</a:t>
            </a:r>
          </a:p>
          <a:p>
            <a:pPr>
              <a:buFont typeface="Arial" panose="020B0604020202020204" pitchFamily="34" charset="0"/>
              <a:buChar char="•"/>
            </a:pPr>
            <a:r>
              <a:rPr lang="en-US" sz="1100" dirty="0"/>
              <a:t>Gross Profitability (−0.27); QUAL</a:t>
            </a:r>
          </a:p>
        </p:txBody>
      </p:sp>
      <p:pic>
        <p:nvPicPr>
          <p:cNvPr id="41" name="Picture 40" descr="A graph with colored dots&#10;&#10;AI-generated content may be incorrect.">
            <a:extLst>
              <a:ext uri="{FF2B5EF4-FFF2-40B4-BE49-F238E27FC236}">
                <a16:creationId xmlns:a16="http://schemas.microsoft.com/office/drawing/2014/main" id="{55F511CF-753E-33C6-B02E-EF0DC58FF986}"/>
              </a:ext>
            </a:extLst>
          </p:cNvPr>
          <p:cNvPicPr>
            <a:picLocks noChangeAspect="1"/>
          </p:cNvPicPr>
          <p:nvPr/>
        </p:nvPicPr>
        <p:blipFill>
          <a:blip r:embed="rId2"/>
          <a:stretch>
            <a:fillRect/>
          </a:stretch>
        </p:blipFill>
        <p:spPr>
          <a:xfrm>
            <a:off x="7004245" y="1508740"/>
            <a:ext cx="5160063" cy="2828163"/>
          </a:xfrm>
          <a:prstGeom prst="rect">
            <a:avLst/>
          </a:prstGeom>
        </p:spPr>
      </p:pic>
      <p:sp>
        <p:nvSpPr>
          <p:cNvPr id="42" name="TextBox 41">
            <a:extLst>
              <a:ext uri="{FF2B5EF4-FFF2-40B4-BE49-F238E27FC236}">
                <a16:creationId xmlns:a16="http://schemas.microsoft.com/office/drawing/2014/main" id="{20A1F9AA-F75D-02BE-CE6B-71D81F65C5FE}"/>
              </a:ext>
            </a:extLst>
          </p:cNvPr>
          <p:cNvSpPr txBox="1"/>
          <p:nvPr/>
        </p:nvSpPr>
        <p:spPr>
          <a:xfrm>
            <a:off x="10220469" y="570289"/>
            <a:ext cx="1873576" cy="718915"/>
          </a:xfrm>
          <a:prstGeom prst="rect">
            <a:avLst/>
          </a:prstGeom>
          <a:noFill/>
        </p:spPr>
        <p:txBody>
          <a:bodyPr wrap="square">
            <a:spAutoFit/>
          </a:bodyPr>
          <a:lstStyle/>
          <a:p>
            <a:pPr marL="0" marR="0">
              <a:lnSpc>
                <a:spcPct val="115000"/>
              </a:lnSpc>
              <a:buNone/>
            </a:pPr>
            <a:r>
              <a:rPr lang="en-US" sz="1200" b="1" i="1" kern="100" dirty="0">
                <a:effectLst/>
                <a:latin typeface="Aptos" panose="020B0004020202020204" pitchFamily="34" charset="0"/>
                <a:ea typeface="Aptos" panose="020B0004020202020204" pitchFamily="34" charset="0"/>
                <a:cs typeface="Times New Roman" panose="02020603050405020304" pitchFamily="18" charset="0"/>
              </a:rPr>
              <a:t>Together PC1 &amp; PC2 explain 52.5% of the total variance</a:t>
            </a:r>
          </a:p>
        </p:txBody>
      </p:sp>
    </p:spTree>
    <p:extLst>
      <p:ext uri="{BB962C8B-B14F-4D97-AF65-F5344CB8AC3E}">
        <p14:creationId xmlns:p14="http://schemas.microsoft.com/office/powerpoint/2010/main" val="1149609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2948-FB87-31FD-3D7C-D9956651A0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832F52-6EFF-B4DF-0D05-70E7B29A8960}"/>
              </a:ext>
            </a:extLst>
          </p:cNvPr>
          <p:cNvSpPr txBox="1"/>
          <p:nvPr/>
        </p:nvSpPr>
        <p:spPr>
          <a:xfrm>
            <a:off x="431956" y="347411"/>
            <a:ext cx="10663118" cy="5078313"/>
          </a:xfrm>
          <a:prstGeom prst="rect">
            <a:avLst/>
          </a:prstGeom>
          <a:noFill/>
        </p:spPr>
        <p:txBody>
          <a:bodyPr wrap="square">
            <a:spAutoFit/>
          </a:bodyPr>
          <a:lstStyle/>
          <a:p>
            <a:pPr>
              <a:buNone/>
            </a:pPr>
            <a:r>
              <a:rPr lang="en-US" b="1" dirty="0"/>
              <a:t>Cluster Regimes Overview</a:t>
            </a:r>
          </a:p>
          <a:p>
            <a:pPr>
              <a:buNone/>
            </a:pPr>
            <a:endParaRPr lang="en-US" b="1" dirty="0"/>
          </a:p>
          <a:p>
            <a:pPr>
              <a:buNone/>
            </a:pPr>
            <a:r>
              <a:rPr lang="en-US" b="1" dirty="0"/>
              <a:t>Cluster 0: Deep Value / Cyclical Repricing</a:t>
            </a:r>
            <a:br>
              <a:rPr lang="en-US" dirty="0"/>
            </a:br>
            <a:r>
              <a:rPr lang="en-US" dirty="0"/>
              <a:t>This group consists of stocks trading at substantial discounts to book value and sales. While momentum is modestly positive, profitability metrics are weak. These names typically represent cyclicals or turnaround candidates where returns depend on mean reversion rather than operational excellence.</a:t>
            </a:r>
          </a:p>
          <a:p>
            <a:pPr>
              <a:buNone/>
            </a:pPr>
            <a:r>
              <a:rPr lang="en-US" b="1" dirty="0"/>
              <a:t>Cluster 1: Distressed / High Risk</a:t>
            </a:r>
            <a:br>
              <a:rPr lang="en-US" dirty="0"/>
            </a:br>
            <a:r>
              <a:rPr lang="en-US" dirty="0"/>
              <a:t>This cluster captures financially fragile companies with elevated volatility, poor profitability, weak balance sheets, and negative momentum. These stocks exhibit classic </a:t>
            </a:r>
            <a:r>
              <a:rPr lang="en-US" i="1" dirty="0"/>
              <a:t>value-trap</a:t>
            </a:r>
            <a:r>
              <a:rPr lang="en-US" dirty="0"/>
              <a:t> characteristics, where cheapness is not compensated by quality or stability.</a:t>
            </a:r>
          </a:p>
          <a:p>
            <a:pPr>
              <a:buNone/>
            </a:pPr>
            <a:r>
              <a:rPr lang="en-US" b="1" dirty="0"/>
              <a:t>Cluster 2: Balanced Quality / Defensive Core</a:t>
            </a:r>
            <a:br>
              <a:rPr lang="en-US" dirty="0"/>
            </a:br>
            <a:r>
              <a:rPr lang="en-US" dirty="0"/>
              <a:t>Stocks in this cluster show strong profitability, conservative leverage, and steady momentum. Risk levels are moderate and liquidity is sufficient. This group represents a defensively positioned quality core suitable for capital preservation and stable compounding.</a:t>
            </a:r>
          </a:p>
          <a:p>
            <a:pPr>
              <a:buNone/>
            </a:pPr>
            <a:r>
              <a:rPr lang="en-US" b="1" dirty="0"/>
              <a:t>Cluster 3: High-Quality / Mega-Cap Compounders</a:t>
            </a:r>
            <a:br>
              <a:rPr lang="en-US" dirty="0"/>
            </a:br>
            <a:r>
              <a:rPr lang="en-US" dirty="0"/>
              <a:t>This cluster contains the most liquid and operationally efficient firms. High ROE, ROA, and gross profitability combine with low volatility and exceptional tradability. Although valuation metrics are elevated, these companies dominate through durability and scale.</a:t>
            </a:r>
          </a:p>
        </p:txBody>
      </p:sp>
    </p:spTree>
    <p:extLst>
      <p:ext uri="{BB962C8B-B14F-4D97-AF65-F5344CB8AC3E}">
        <p14:creationId xmlns:p14="http://schemas.microsoft.com/office/powerpoint/2010/main" val="2400330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3E36-F631-3F6C-F56A-8C19637532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08A6D0-B6FB-DCFC-6D88-37CCA986A52C}"/>
              </a:ext>
            </a:extLst>
          </p:cNvPr>
          <p:cNvSpPr txBox="1"/>
          <p:nvPr/>
        </p:nvSpPr>
        <p:spPr>
          <a:xfrm>
            <a:off x="0" y="56809"/>
            <a:ext cx="5269584" cy="6740307"/>
          </a:xfrm>
          <a:prstGeom prst="rect">
            <a:avLst/>
          </a:prstGeom>
          <a:noFill/>
        </p:spPr>
        <p:txBody>
          <a:bodyPr wrap="square">
            <a:spAutoFit/>
          </a:bodyPr>
          <a:lstStyle/>
          <a:p>
            <a:pPr>
              <a:buNone/>
            </a:pPr>
            <a:r>
              <a:rPr lang="en-US" b="1" u="sng" dirty="0"/>
              <a:t>PC1 — Quality + Profitability vs Risk</a:t>
            </a:r>
          </a:p>
          <a:p>
            <a:pPr>
              <a:buNone/>
            </a:pPr>
            <a:r>
              <a:rPr lang="en-US" dirty="0"/>
              <a:t>(Primary market regime axis)</a:t>
            </a:r>
          </a:p>
          <a:p>
            <a:pPr>
              <a:buNone/>
            </a:pPr>
            <a:endParaRPr lang="en-US" b="1" dirty="0"/>
          </a:p>
          <a:p>
            <a:pPr>
              <a:buNone/>
            </a:pPr>
            <a:r>
              <a:rPr lang="en-US" b="1" dirty="0"/>
              <a:t>Strong positive loadings</a:t>
            </a:r>
          </a:p>
          <a:p>
            <a:pPr>
              <a:buFont typeface="Arial" panose="020B0604020202020204" pitchFamily="34" charset="0"/>
              <a:buChar char="•"/>
            </a:pPr>
            <a:r>
              <a:rPr lang="en-US" dirty="0"/>
              <a:t>ROA (0.44)</a:t>
            </a:r>
          </a:p>
          <a:p>
            <a:pPr>
              <a:buFont typeface="Arial" panose="020B0604020202020204" pitchFamily="34" charset="0"/>
              <a:buChar char="•"/>
            </a:pPr>
            <a:r>
              <a:rPr lang="en-US" dirty="0"/>
              <a:t>ROE (0.36)</a:t>
            </a:r>
          </a:p>
          <a:p>
            <a:pPr>
              <a:buFont typeface="Arial" panose="020B0604020202020204" pitchFamily="34" charset="0"/>
              <a:buChar char="•"/>
            </a:pPr>
            <a:r>
              <a:rPr lang="en-US" dirty="0"/>
              <a:t>Earnings Yield (0.39)</a:t>
            </a:r>
          </a:p>
          <a:p>
            <a:pPr>
              <a:buFont typeface="Arial" panose="020B0604020202020204" pitchFamily="34" charset="0"/>
              <a:buChar char="•"/>
            </a:pPr>
            <a:r>
              <a:rPr lang="en-US" dirty="0"/>
              <a:t>Cash / Debt (0.36)</a:t>
            </a:r>
          </a:p>
          <a:p>
            <a:pPr>
              <a:buFont typeface="Arial" panose="020B0604020202020204" pitchFamily="34" charset="0"/>
              <a:buChar char="•"/>
            </a:pPr>
            <a:r>
              <a:rPr lang="en-US" dirty="0"/>
              <a:t>Momentum (0.26)</a:t>
            </a:r>
          </a:p>
          <a:p>
            <a:pPr>
              <a:buNone/>
            </a:pPr>
            <a:r>
              <a:rPr lang="en-US" b="1" dirty="0"/>
              <a:t>Strong negative loadings</a:t>
            </a:r>
          </a:p>
          <a:p>
            <a:pPr>
              <a:buFont typeface="Arial" panose="020B0604020202020204" pitchFamily="34" charset="0"/>
              <a:buChar char="•"/>
            </a:pPr>
            <a:r>
              <a:rPr lang="en-US" dirty="0"/>
              <a:t>Volatility (−0.34)</a:t>
            </a:r>
          </a:p>
          <a:p>
            <a:pPr>
              <a:buFont typeface="Arial" panose="020B0604020202020204" pitchFamily="34" charset="0"/>
              <a:buChar char="•"/>
            </a:pPr>
            <a:r>
              <a:rPr lang="en-US" dirty="0"/>
              <a:t>Book-to-Market (−0.35)</a:t>
            </a:r>
          </a:p>
          <a:p>
            <a:pPr>
              <a:buNone/>
            </a:pPr>
            <a:endParaRPr lang="en-US" b="1" dirty="0"/>
          </a:p>
          <a:p>
            <a:pPr>
              <a:buNone/>
            </a:pPr>
            <a:r>
              <a:rPr lang="en-US" b="1" dirty="0"/>
              <a:t>Economic interpretation</a:t>
            </a:r>
          </a:p>
          <a:p>
            <a:pPr>
              <a:buNone/>
            </a:pPr>
            <a:r>
              <a:rPr lang="en-US" dirty="0"/>
              <a:t>PC1 cleanly separates:</a:t>
            </a:r>
          </a:p>
          <a:p>
            <a:pPr>
              <a:buFont typeface="Arial" panose="020B0604020202020204" pitchFamily="34" charset="0"/>
              <a:buChar char="•"/>
            </a:pPr>
            <a:r>
              <a:rPr lang="en-US" dirty="0"/>
              <a:t>High-quality, profitable, financially strong stocks</a:t>
            </a:r>
            <a:br>
              <a:rPr lang="en-US" dirty="0"/>
            </a:br>
            <a:r>
              <a:rPr lang="en-US" dirty="0"/>
              <a:t>vs</a:t>
            </a:r>
          </a:p>
          <a:p>
            <a:pPr>
              <a:buFont typeface="Arial" panose="020B0604020202020204" pitchFamily="34" charset="0"/>
              <a:buChar char="•"/>
            </a:pPr>
            <a:r>
              <a:rPr lang="en-US" dirty="0"/>
              <a:t>Riskier, lower-quality, volatile names</a:t>
            </a:r>
          </a:p>
          <a:p>
            <a:pPr>
              <a:buNone/>
            </a:pPr>
            <a:endParaRPr lang="en-US" dirty="0"/>
          </a:p>
          <a:p>
            <a:pPr>
              <a:buNone/>
            </a:pPr>
            <a:r>
              <a:rPr lang="en-US" b="1" dirty="0"/>
              <a:t>This is </a:t>
            </a:r>
            <a:r>
              <a:rPr lang="en-US" b="1" i="1" dirty="0"/>
              <a:t>not</a:t>
            </a:r>
            <a:r>
              <a:rPr lang="en-US" b="1" dirty="0"/>
              <a:t> a pure “value” axis — it’s closer to:</a:t>
            </a:r>
          </a:p>
          <a:p>
            <a:pPr>
              <a:buNone/>
            </a:pPr>
            <a:r>
              <a:rPr lang="en-US" b="1" dirty="0"/>
              <a:t>Quality + Financial Strength + Risk composite</a:t>
            </a:r>
          </a:p>
          <a:p>
            <a:pPr>
              <a:buNone/>
            </a:pPr>
            <a:r>
              <a:rPr lang="en-US" dirty="0"/>
              <a:t>PC1 ≈ “Quality / Stability / Balance-Sheet Strength”</a:t>
            </a:r>
          </a:p>
          <a:p>
            <a:pPr>
              <a:buNone/>
            </a:pPr>
            <a:r>
              <a:rPr lang="en-US" dirty="0"/>
              <a:t>This explains why your PCA plot shows strong left–right separation.</a:t>
            </a:r>
          </a:p>
        </p:txBody>
      </p:sp>
      <p:sp>
        <p:nvSpPr>
          <p:cNvPr id="5" name="TextBox 4">
            <a:extLst>
              <a:ext uri="{FF2B5EF4-FFF2-40B4-BE49-F238E27FC236}">
                <a16:creationId xmlns:a16="http://schemas.microsoft.com/office/drawing/2014/main" id="{3514F563-F999-6359-35F5-0E8BD71A9018}"/>
              </a:ext>
            </a:extLst>
          </p:cNvPr>
          <p:cNvSpPr txBox="1"/>
          <p:nvPr/>
        </p:nvSpPr>
        <p:spPr>
          <a:xfrm>
            <a:off x="6994689" y="56809"/>
            <a:ext cx="5197311" cy="6186309"/>
          </a:xfrm>
          <a:prstGeom prst="rect">
            <a:avLst/>
          </a:prstGeom>
          <a:noFill/>
        </p:spPr>
        <p:txBody>
          <a:bodyPr wrap="square">
            <a:spAutoFit/>
          </a:bodyPr>
          <a:lstStyle/>
          <a:p>
            <a:pPr>
              <a:buNone/>
            </a:pPr>
            <a:r>
              <a:rPr lang="en-US" b="1" u="sng" dirty="0"/>
              <a:t>PC2 — Balance Sheet &amp; Size / Leverage Axis</a:t>
            </a:r>
          </a:p>
          <a:p>
            <a:pPr>
              <a:buNone/>
            </a:pPr>
            <a:r>
              <a:rPr lang="en-US" dirty="0"/>
              <a:t>(Secondary structural axis)</a:t>
            </a:r>
          </a:p>
          <a:p>
            <a:pPr>
              <a:buNone/>
            </a:pPr>
            <a:endParaRPr lang="en-US" b="1" dirty="0"/>
          </a:p>
          <a:p>
            <a:pPr>
              <a:buNone/>
            </a:pPr>
            <a:r>
              <a:rPr lang="en-US" b="1" dirty="0"/>
              <a:t>Strong positive loadings</a:t>
            </a:r>
          </a:p>
          <a:p>
            <a:pPr>
              <a:buFont typeface="Arial" panose="020B0604020202020204" pitchFamily="34" charset="0"/>
              <a:buChar char="•"/>
            </a:pPr>
            <a:r>
              <a:rPr lang="en-US" dirty="0"/>
              <a:t>ADDV (0.54) → liquidity / size</a:t>
            </a:r>
          </a:p>
          <a:p>
            <a:pPr>
              <a:buFont typeface="Arial" panose="020B0604020202020204" pitchFamily="34" charset="0"/>
              <a:buChar char="•"/>
            </a:pPr>
            <a:r>
              <a:rPr lang="en-US" dirty="0"/>
              <a:t>Debt-to-Assets (0.48) → leverage</a:t>
            </a:r>
          </a:p>
          <a:p>
            <a:pPr>
              <a:buNone/>
            </a:pPr>
            <a:endParaRPr lang="en-US" b="1" dirty="0"/>
          </a:p>
          <a:p>
            <a:pPr>
              <a:buNone/>
            </a:pPr>
            <a:endParaRPr lang="en-US" b="1" dirty="0"/>
          </a:p>
          <a:p>
            <a:pPr>
              <a:buNone/>
            </a:pPr>
            <a:r>
              <a:rPr lang="en-US" b="1" dirty="0"/>
              <a:t>Strong negative loadings</a:t>
            </a:r>
          </a:p>
          <a:p>
            <a:pPr>
              <a:buFont typeface="Arial" panose="020B0604020202020204" pitchFamily="34" charset="0"/>
              <a:buChar char="•"/>
            </a:pPr>
            <a:r>
              <a:rPr lang="en-US" dirty="0"/>
              <a:t>Cash / Debt (−0.34)</a:t>
            </a:r>
          </a:p>
          <a:p>
            <a:pPr>
              <a:buFont typeface="Arial" panose="020B0604020202020204" pitchFamily="34" charset="0"/>
              <a:buChar char="•"/>
            </a:pPr>
            <a:r>
              <a:rPr lang="en-US" dirty="0"/>
              <a:t>Sales-to-Price (−0.29)</a:t>
            </a:r>
          </a:p>
          <a:p>
            <a:pPr>
              <a:buFont typeface="Arial" panose="020B0604020202020204" pitchFamily="34" charset="0"/>
              <a:buChar char="•"/>
            </a:pPr>
            <a:r>
              <a:rPr lang="en-US" dirty="0"/>
              <a:t>Gross Profitability (−0.27)</a:t>
            </a:r>
          </a:p>
          <a:p>
            <a:pPr>
              <a:buNone/>
            </a:pPr>
            <a:endParaRPr lang="en-US" b="1" dirty="0"/>
          </a:p>
          <a:p>
            <a:pPr>
              <a:buNone/>
            </a:pPr>
            <a:r>
              <a:rPr lang="en-US" b="1" dirty="0"/>
              <a:t>Economic interpretation</a:t>
            </a:r>
          </a:p>
          <a:p>
            <a:pPr>
              <a:buNone/>
            </a:pPr>
            <a:r>
              <a:rPr lang="en-US" dirty="0"/>
              <a:t>PC2 contrasts:</a:t>
            </a:r>
          </a:p>
          <a:p>
            <a:pPr>
              <a:buFont typeface="Arial" panose="020B0604020202020204" pitchFamily="34" charset="0"/>
              <a:buChar char="•"/>
            </a:pPr>
            <a:r>
              <a:rPr lang="en-US" dirty="0"/>
              <a:t>Large, liquid, leveraged firms</a:t>
            </a:r>
            <a:br>
              <a:rPr lang="en-US" dirty="0"/>
            </a:br>
            <a:r>
              <a:rPr lang="en-US" dirty="0"/>
              <a:t>vs</a:t>
            </a:r>
          </a:p>
          <a:p>
            <a:pPr>
              <a:buFont typeface="Arial" panose="020B0604020202020204" pitchFamily="34" charset="0"/>
              <a:buChar char="•"/>
            </a:pPr>
            <a:r>
              <a:rPr lang="en-US" dirty="0"/>
              <a:t>Cash-rich, operationally efficient firms</a:t>
            </a:r>
          </a:p>
          <a:p>
            <a:pPr>
              <a:buNone/>
            </a:pPr>
            <a:endParaRPr lang="en-US" dirty="0"/>
          </a:p>
          <a:p>
            <a:pPr>
              <a:buNone/>
            </a:pPr>
            <a:r>
              <a:rPr lang="en-US" b="1" dirty="0"/>
              <a:t>This is a </a:t>
            </a:r>
            <a:r>
              <a:rPr lang="en-US" b="1" i="1" dirty="0"/>
              <a:t>capital-structure + liquidity</a:t>
            </a:r>
            <a:r>
              <a:rPr lang="en-US" b="1" dirty="0"/>
              <a:t> axis.</a:t>
            </a:r>
          </a:p>
          <a:p>
            <a:pPr>
              <a:buNone/>
            </a:pPr>
            <a:r>
              <a:rPr lang="en-US" dirty="0"/>
              <a:t>PC2 ≈ “Size / Leverage / Capital Structure”</a:t>
            </a:r>
          </a:p>
          <a:p>
            <a:pPr>
              <a:buNone/>
            </a:pPr>
            <a:r>
              <a:rPr lang="en-US" dirty="0"/>
              <a:t>This is why clusters separate vertically in PC space.</a:t>
            </a:r>
          </a:p>
        </p:txBody>
      </p:sp>
      <p:cxnSp>
        <p:nvCxnSpPr>
          <p:cNvPr id="7" name="Straight Connector 6">
            <a:extLst>
              <a:ext uri="{FF2B5EF4-FFF2-40B4-BE49-F238E27FC236}">
                <a16:creationId xmlns:a16="http://schemas.microsoft.com/office/drawing/2014/main" id="{CA39ACA3-69EF-763E-ADC7-02D749355AD8}"/>
              </a:ext>
            </a:extLst>
          </p:cNvPr>
          <p:cNvCxnSpPr>
            <a:cxnSpLocks/>
          </p:cNvCxnSpPr>
          <p:nvPr/>
        </p:nvCxnSpPr>
        <p:spPr>
          <a:xfrm>
            <a:off x="6096000" y="0"/>
            <a:ext cx="0" cy="6777872"/>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descr="A screenshot of a computer screen&#10;&#10;AI-generated content may be incorrect.">
            <a:extLst>
              <a:ext uri="{FF2B5EF4-FFF2-40B4-BE49-F238E27FC236}">
                <a16:creationId xmlns:a16="http://schemas.microsoft.com/office/drawing/2014/main" id="{54E0D78A-9396-9FF3-DF48-2AB77CBA5DD3}"/>
              </a:ext>
            </a:extLst>
          </p:cNvPr>
          <p:cNvPicPr>
            <a:picLocks noChangeAspect="1"/>
          </p:cNvPicPr>
          <p:nvPr/>
        </p:nvPicPr>
        <p:blipFill>
          <a:blip r:embed="rId2"/>
          <a:stretch>
            <a:fillRect/>
          </a:stretch>
        </p:blipFill>
        <p:spPr>
          <a:xfrm>
            <a:off x="3874788" y="175256"/>
            <a:ext cx="3009922" cy="4038630"/>
          </a:xfrm>
          <a:prstGeom prst="rect">
            <a:avLst/>
          </a:prstGeom>
        </p:spPr>
      </p:pic>
    </p:spTree>
    <p:extLst>
      <p:ext uri="{BB962C8B-B14F-4D97-AF65-F5344CB8AC3E}">
        <p14:creationId xmlns:p14="http://schemas.microsoft.com/office/powerpoint/2010/main" val="65186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5BCE5-14CA-115E-43D6-839BDE54BB6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E02C3C-0E42-7724-E9BC-052D737831A3}"/>
              </a:ext>
            </a:extLst>
          </p:cNvPr>
          <p:cNvSpPr txBox="1"/>
          <p:nvPr/>
        </p:nvSpPr>
        <p:spPr>
          <a:xfrm>
            <a:off x="0" y="0"/>
            <a:ext cx="9385326" cy="584775"/>
          </a:xfrm>
          <a:prstGeom prst="rect">
            <a:avLst/>
          </a:prstGeom>
          <a:noFill/>
        </p:spPr>
        <p:txBody>
          <a:bodyPr wrap="none">
            <a:spAutoFit/>
          </a:bodyPr>
          <a:lstStyle/>
          <a:p>
            <a:pPr>
              <a:defRPr sz="3200" b="1"/>
            </a:pPr>
            <a:r>
              <a:rPr lang="en-US" dirty="0"/>
              <a:t>Value Factor (“Cheapness”) - Isolated PC Analysis</a:t>
            </a:r>
            <a:endParaRPr dirty="0"/>
          </a:p>
        </p:txBody>
      </p:sp>
      <p:sp>
        <p:nvSpPr>
          <p:cNvPr id="7" name="TextBox 6">
            <a:extLst>
              <a:ext uri="{FF2B5EF4-FFF2-40B4-BE49-F238E27FC236}">
                <a16:creationId xmlns:a16="http://schemas.microsoft.com/office/drawing/2014/main" id="{0F50A663-E9C7-A062-AB43-F1CA8D9AECA7}"/>
              </a:ext>
            </a:extLst>
          </p:cNvPr>
          <p:cNvSpPr txBox="1"/>
          <p:nvPr/>
        </p:nvSpPr>
        <p:spPr>
          <a:xfrm>
            <a:off x="1060516" y="1558577"/>
            <a:ext cx="2993010" cy="954107"/>
          </a:xfrm>
          <a:prstGeom prst="rect">
            <a:avLst/>
          </a:prstGeom>
          <a:noFill/>
          <a:ln>
            <a:solidFill>
              <a:schemeClr val="accent1">
                <a:shade val="15000"/>
              </a:schemeClr>
            </a:solidFill>
          </a:ln>
        </p:spPr>
        <p:txBody>
          <a:bodyPr wrap="square">
            <a:spAutoFit/>
          </a:bodyPr>
          <a:lstStyle/>
          <a:p>
            <a:r>
              <a:rPr lang="en-US" sz="1400" u="sng" dirty="0"/>
              <a:t>Value Feature	PC1 Loading</a:t>
            </a:r>
          </a:p>
          <a:p>
            <a:r>
              <a:rPr lang="en-US" sz="1400" dirty="0"/>
              <a:t>Earnings Yield	+0.389</a:t>
            </a:r>
          </a:p>
          <a:p>
            <a:r>
              <a:rPr lang="en-US" sz="1400" dirty="0"/>
              <a:t>Book / Price (bm)	−0.352</a:t>
            </a:r>
          </a:p>
          <a:p>
            <a:r>
              <a:rPr lang="en-US" sz="1400" dirty="0"/>
              <a:t>Sales / Price	−0.106</a:t>
            </a:r>
          </a:p>
        </p:txBody>
      </p:sp>
      <p:sp>
        <p:nvSpPr>
          <p:cNvPr id="9" name="TextBox 8">
            <a:extLst>
              <a:ext uri="{FF2B5EF4-FFF2-40B4-BE49-F238E27FC236}">
                <a16:creationId xmlns:a16="http://schemas.microsoft.com/office/drawing/2014/main" id="{A5DB7831-9A7C-6551-4DC2-BD3874A6CE83}"/>
              </a:ext>
            </a:extLst>
          </p:cNvPr>
          <p:cNvSpPr txBox="1"/>
          <p:nvPr/>
        </p:nvSpPr>
        <p:spPr>
          <a:xfrm>
            <a:off x="7598790" y="1552705"/>
            <a:ext cx="2993010" cy="954107"/>
          </a:xfrm>
          <a:prstGeom prst="rect">
            <a:avLst/>
          </a:prstGeom>
          <a:noFill/>
          <a:ln>
            <a:solidFill>
              <a:schemeClr val="accent1">
                <a:shade val="15000"/>
              </a:schemeClr>
            </a:solidFill>
          </a:ln>
        </p:spPr>
        <p:txBody>
          <a:bodyPr wrap="square">
            <a:spAutoFit/>
          </a:bodyPr>
          <a:lstStyle/>
          <a:p>
            <a:r>
              <a:rPr lang="en-US" sz="1400" u="sng" dirty="0"/>
              <a:t>Value Feature	PC2 Loading</a:t>
            </a:r>
          </a:p>
          <a:p>
            <a:r>
              <a:rPr lang="en-US" sz="1400" dirty="0"/>
              <a:t>Earnings Yield	−0.210</a:t>
            </a:r>
          </a:p>
          <a:p>
            <a:r>
              <a:rPr lang="en-US" sz="1400" dirty="0"/>
              <a:t>Book / Price (bm)	−0.217</a:t>
            </a:r>
          </a:p>
          <a:p>
            <a:r>
              <a:rPr lang="en-US" sz="1400" dirty="0"/>
              <a:t>Sales / Price	−0.293</a:t>
            </a:r>
          </a:p>
        </p:txBody>
      </p:sp>
      <p:sp>
        <p:nvSpPr>
          <p:cNvPr id="11" name="TextBox 10">
            <a:extLst>
              <a:ext uri="{FF2B5EF4-FFF2-40B4-BE49-F238E27FC236}">
                <a16:creationId xmlns:a16="http://schemas.microsoft.com/office/drawing/2014/main" id="{B0B61943-FAF0-7B21-73AF-2A06FA19E4E9}"/>
              </a:ext>
            </a:extLst>
          </p:cNvPr>
          <p:cNvSpPr txBox="1"/>
          <p:nvPr/>
        </p:nvSpPr>
        <p:spPr>
          <a:xfrm>
            <a:off x="268663" y="688404"/>
            <a:ext cx="5827336" cy="738664"/>
          </a:xfrm>
          <a:prstGeom prst="rect">
            <a:avLst/>
          </a:prstGeom>
          <a:noFill/>
        </p:spPr>
        <p:txBody>
          <a:bodyPr wrap="square">
            <a:spAutoFit/>
          </a:bodyPr>
          <a:lstStyle/>
          <a:p>
            <a:r>
              <a:rPr lang="en-US" sz="1400" b="1" dirty="0"/>
              <a:t>PC1 captures a refined Value dimension that rewards earnings-based cheapness while penalizing balance-sheet and revenue-only value, effectively separating profitable value from value traps.</a:t>
            </a:r>
          </a:p>
        </p:txBody>
      </p:sp>
      <p:sp>
        <p:nvSpPr>
          <p:cNvPr id="13" name="TextBox 12">
            <a:extLst>
              <a:ext uri="{FF2B5EF4-FFF2-40B4-BE49-F238E27FC236}">
                <a16:creationId xmlns:a16="http://schemas.microsoft.com/office/drawing/2014/main" id="{DCB6F4CC-758E-022E-485B-977E21BFDF2F}"/>
              </a:ext>
            </a:extLst>
          </p:cNvPr>
          <p:cNvSpPr txBox="1"/>
          <p:nvPr/>
        </p:nvSpPr>
        <p:spPr>
          <a:xfrm>
            <a:off x="6096000" y="688404"/>
            <a:ext cx="5998590" cy="738664"/>
          </a:xfrm>
          <a:prstGeom prst="rect">
            <a:avLst/>
          </a:prstGeom>
          <a:noFill/>
        </p:spPr>
        <p:txBody>
          <a:bodyPr wrap="square">
            <a:spAutoFit/>
          </a:bodyPr>
          <a:lstStyle/>
          <a:p>
            <a:r>
              <a:rPr lang="en-US" sz="1400" b="1" dirty="0"/>
              <a:t>PC2 represents a pure valuation axis, capturing broad cheapness versus expensiveness across earnings, book, and sales measures without distinguishing value quality.</a:t>
            </a:r>
          </a:p>
        </p:txBody>
      </p:sp>
      <p:sp>
        <p:nvSpPr>
          <p:cNvPr id="15" name="TextBox 14">
            <a:extLst>
              <a:ext uri="{FF2B5EF4-FFF2-40B4-BE49-F238E27FC236}">
                <a16:creationId xmlns:a16="http://schemas.microsoft.com/office/drawing/2014/main" id="{FC431FA2-7299-C042-C96D-EDE75158B696}"/>
              </a:ext>
            </a:extLst>
          </p:cNvPr>
          <p:cNvSpPr txBox="1"/>
          <p:nvPr/>
        </p:nvSpPr>
        <p:spPr>
          <a:xfrm>
            <a:off x="344078" y="4083660"/>
            <a:ext cx="3652886" cy="230999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PC1 stocks: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Cheap on </a:t>
            </a:r>
            <a:r>
              <a:rPr lang="en-US" sz="1400" b="1" kern="0" dirty="0">
                <a:effectLst/>
                <a:ea typeface="Times New Roman" panose="02020603050405020304" pitchFamily="18" charset="0"/>
                <a:cs typeface="Times New Roman" panose="02020603050405020304" pitchFamily="18" charset="0"/>
              </a:rPr>
              <a:t>earnings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Less dependent on asset backing</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More likely to be </a:t>
            </a:r>
            <a:r>
              <a:rPr lang="en-US" sz="1400" b="1" kern="0" dirty="0">
                <a:effectLst/>
                <a:ea typeface="Times New Roman" panose="02020603050405020304" pitchFamily="18" charset="0"/>
                <a:cs typeface="Times New Roman" panose="02020603050405020304" pitchFamily="18" charset="0"/>
              </a:rPr>
              <a:t>operationally viable</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Lower probability of being value traps</a:t>
            </a:r>
            <a:endParaRPr lang="en-US" sz="1400" kern="100" dirty="0">
              <a:effectLst/>
              <a:ea typeface="Aptos" panose="020B0004020202020204" pitchFamily="34" charset="0"/>
              <a:cs typeface="Times New Roman" panose="02020603050405020304" pitchFamily="18" charset="0"/>
            </a:endParaRP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Low PC1 stocks: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Cheap on </a:t>
            </a:r>
            <a:r>
              <a:rPr lang="en-US" sz="1400" b="1" kern="0" dirty="0">
                <a:effectLst/>
                <a:ea typeface="Times New Roman" panose="02020603050405020304" pitchFamily="18" charset="0"/>
                <a:cs typeface="Times New Roman" panose="02020603050405020304" pitchFamily="18" charset="0"/>
              </a:rPr>
              <a:t>book or sales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Weak earnings conversion</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Higher distress or cyclicality</a:t>
            </a:r>
            <a:endParaRPr lang="en-US" sz="1400" kern="100" dirty="0">
              <a:effectLst/>
              <a:ea typeface="Aptos" panose="020B0004020202020204" pitchFamily="34"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87955BC8-3CE4-75E2-2987-0E5449E531E8}"/>
              </a:ext>
            </a:extLst>
          </p:cNvPr>
          <p:cNvCxnSpPr>
            <a:cxnSpLocks/>
          </p:cNvCxnSpPr>
          <p:nvPr/>
        </p:nvCxnSpPr>
        <p:spPr>
          <a:xfrm>
            <a:off x="6096000" y="688404"/>
            <a:ext cx="0" cy="608946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2CE7E98-CFEB-1516-3DA1-34B894C074C4}"/>
              </a:ext>
            </a:extLst>
          </p:cNvPr>
          <p:cNvSpPr txBox="1"/>
          <p:nvPr/>
        </p:nvSpPr>
        <p:spPr>
          <a:xfrm>
            <a:off x="344078" y="2644193"/>
            <a:ext cx="5274297" cy="1318951"/>
          </a:xfrm>
          <a:prstGeom prst="rect">
            <a:avLst/>
          </a:prstGeom>
          <a:noFill/>
        </p:spPr>
        <p:txBody>
          <a:bodyPr wrap="square">
            <a:spAutoFit/>
          </a:bodyPr>
          <a:lstStyle/>
          <a:p>
            <a:pPr marL="0" marR="0">
              <a:lnSpc>
                <a:spcPct val="115000"/>
              </a:lnSpc>
              <a:buNone/>
            </a:pPr>
            <a:r>
              <a:rPr lang="en-US" sz="1400" kern="0" dirty="0">
                <a:effectLst/>
                <a:ea typeface="Times New Roman" panose="02020603050405020304" pitchFamily="18" charset="0"/>
                <a:cs typeface="Times New Roman" panose="02020603050405020304" pitchFamily="18" charset="0"/>
              </a:rPr>
              <a:t>PC1 distinguishes “</a:t>
            </a:r>
            <a:r>
              <a:rPr lang="en-US" sz="1400" b="1" kern="0" dirty="0">
                <a:effectLst/>
                <a:ea typeface="Times New Roman" panose="02020603050405020304" pitchFamily="18" charset="0"/>
                <a:cs typeface="Times New Roman" panose="02020603050405020304" pitchFamily="18" charset="0"/>
              </a:rPr>
              <a:t>cheap stocks with real earnings”</a:t>
            </a:r>
            <a:r>
              <a:rPr lang="en-US" sz="1400" kern="0" dirty="0">
                <a:effectLst/>
                <a:ea typeface="Times New Roman" panose="02020603050405020304" pitchFamily="18" charset="0"/>
                <a:cs typeface="Times New Roman" panose="02020603050405020304" pitchFamily="18" charset="0"/>
              </a:rPr>
              <a:t> from stocks that look cheap only because:</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Assets are impaired</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Sales are low margin</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Earnings power is weak</a:t>
            </a:r>
            <a:endParaRPr lang="en-US" sz="1400" kern="100" dirty="0">
              <a:effectLst/>
              <a:ea typeface="Aptos" panose="020B0004020202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B4B7D840-AA76-BF55-0CB3-067A9C14F6A5}"/>
              </a:ext>
            </a:extLst>
          </p:cNvPr>
          <p:cNvSpPr txBox="1"/>
          <p:nvPr/>
        </p:nvSpPr>
        <p:spPr>
          <a:xfrm>
            <a:off x="6156489" y="2632449"/>
            <a:ext cx="4165856" cy="1318951"/>
          </a:xfrm>
          <a:prstGeom prst="rect">
            <a:avLst/>
          </a:prstGeom>
          <a:noFill/>
        </p:spPr>
        <p:txBody>
          <a:bodyPr wrap="square">
            <a:spAutoFit/>
          </a:bodyPr>
          <a:lstStyle/>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measures how expensive or cheap a stock is overall, regardless of why.  It captures:</a:t>
            </a:r>
          </a:p>
          <a:p>
            <a:pPr marL="342900" marR="0" lvl="0" indent="-342900">
              <a:lnSpc>
                <a:spcPct val="115000"/>
              </a:lnSpc>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Market-wide valuation compression/expansion</a:t>
            </a:r>
          </a:p>
          <a:p>
            <a:pPr marL="342900" marR="0" lvl="0" indent="-342900">
              <a:lnSpc>
                <a:spcPct val="115000"/>
              </a:lnSpc>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Style rotation between Value ↔ Growth</a:t>
            </a:r>
          </a:p>
          <a:p>
            <a:pPr marL="342900" marR="0" lvl="0" indent="-342900">
              <a:lnSpc>
                <a:spcPct val="115000"/>
              </a:lnSpc>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Cross-sectional cheapness</a:t>
            </a:r>
          </a:p>
        </p:txBody>
      </p:sp>
      <p:sp>
        <p:nvSpPr>
          <p:cNvPr id="25" name="TextBox 24">
            <a:extLst>
              <a:ext uri="{FF2B5EF4-FFF2-40B4-BE49-F238E27FC236}">
                <a16:creationId xmlns:a16="http://schemas.microsoft.com/office/drawing/2014/main" id="{B6C977B8-2F0D-C0CC-41A9-CAFFE13E85B2}"/>
              </a:ext>
            </a:extLst>
          </p:cNvPr>
          <p:cNvSpPr txBox="1"/>
          <p:nvPr/>
        </p:nvSpPr>
        <p:spPr>
          <a:xfrm>
            <a:off x="10341999" y="2768072"/>
            <a:ext cx="1873576" cy="931281"/>
          </a:xfrm>
          <a:prstGeom prst="rect">
            <a:avLst/>
          </a:prstGeom>
          <a:noFill/>
        </p:spPr>
        <p:txBody>
          <a:bodyPr wrap="square">
            <a:spAutoFit/>
          </a:bodyPr>
          <a:lstStyle/>
          <a:p>
            <a:pPr marL="0" marR="0">
              <a:lnSpc>
                <a:spcPct val="115000"/>
              </a:lnSpc>
              <a:buNone/>
            </a:pPr>
            <a:r>
              <a:rPr lang="en-US" sz="1200" i="1" kern="100" dirty="0">
                <a:effectLst/>
                <a:latin typeface="Aptos" panose="020B0004020202020204" pitchFamily="34" charset="0"/>
                <a:ea typeface="Aptos" panose="020B0004020202020204" pitchFamily="34" charset="0"/>
                <a:cs typeface="Times New Roman" panose="02020603050405020304" pitchFamily="18" charset="0"/>
              </a:rPr>
              <a:t>This is the axis most sensitive to: Rates, Risk appetite and Macro regime shifts</a:t>
            </a:r>
          </a:p>
        </p:txBody>
      </p:sp>
      <p:sp>
        <p:nvSpPr>
          <p:cNvPr id="26" name="TextBox 25">
            <a:extLst>
              <a:ext uri="{FF2B5EF4-FFF2-40B4-BE49-F238E27FC236}">
                <a16:creationId xmlns:a16="http://schemas.microsoft.com/office/drawing/2014/main" id="{E199CE29-154D-236B-B537-0877B880DF9D}"/>
              </a:ext>
            </a:extLst>
          </p:cNvPr>
          <p:cNvSpPr txBox="1"/>
          <p:nvPr/>
        </p:nvSpPr>
        <p:spPr>
          <a:xfrm>
            <a:off x="6156489" y="4083660"/>
            <a:ext cx="3652886" cy="230999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PC1 stocks: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Cheap on all valuation metrics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Strong Value tilt</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Likely outperform in value-led regimes</a:t>
            </a:r>
          </a:p>
          <a:p>
            <a:pPr marL="342900" marR="0" lvl="0" indent="-342900">
              <a:lnSpc>
                <a:spcPct val="115000"/>
              </a:lnSpc>
              <a:buSzPts val="1000"/>
              <a:buFont typeface="Symbol" panose="05050102010706020507" pitchFamily="18" charset="2"/>
              <a:buChar char=""/>
              <a:tabLst>
                <a:tab pos="457200" algn="l"/>
              </a:tabLst>
            </a:pPr>
            <a:endParaRPr lang="en-US" sz="1400" kern="100" dirty="0">
              <a:effectLst/>
              <a:ea typeface="Aptos" panose="020B0004020202020204" pitchFamily="34" charset="0"/>
              <a:cs typeface="Times New Roman" panose="02020603050405020304" pitchFamily="18" charset="0"/>
            </a:endParaRP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Low PC1 stocks: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Cheap on </a:t>
            </a:r>
            <a:r>
              <a:rPr lang="en-US" sz="1400" b="1" kern="0" dirty="0">
                <a:effectLst/>
                <a:ea typeface="Times New Roman" panose="02020603050405020304" pitchFamily="18" charset="0"/>
                <a:cs typeface="Times New Roman" panose="02020603050405020304" pitchFamily="18" charset="0"/>
              </a:rPr>
              <a:t>book or sales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Weak earnings conversion</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Higher distress or cyclicality</a:t>
            </a:r>
            <a:endParaRPr lang="en-US" sz="1400" kern="100" dirty="0">
              <a:effectLst/>
              <a:ea typeface="Aptos" panose="020B000402020202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F25092B5-C3BA-C29E-69A9-24DC1CE66E36}"/>
              </a:ext>
            </a:extLst>
          </p:cNvPr>
          <p:cNvSpPr txBox="1"/>
          <p:nvPr/>
        </p:nvSpPr>
        <p:spPr>
          <a:xfrm>
            <a:off x="148473" y="6439508"/>
            <a:ext cx="5665506" cy="395173"/>
          </a:xfrm>
          <a:prstGeom prst="rect">
            <a:avLst/>
          </a:prstGeom>
          <a:noFill/>
        </p:spPr>
        <p:txBody>
          <a:bodyPr wrap="square">
            <a:spAutoFit/>
          </a:bodyPr>
          <a:lstStyle/>
          <a:p>
            <a:pPr marL="0" marR="0" algn="ctr">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PC1 </a:t>
            </a:r>
            <a:r>
              <a:rPr lang="en-US" b="1" kern="100" dirty="0">
                <a:latin typeface="Aptos" panose="020B0004020202020204" pitchFamily="34" charset="0"/>
                <a:ea typeface="Aptos" panose="020B0004020202020204" pitchFamily="34" charset="0"/>
                <a:cs typeface="Times New Roman" panose="02020603050405020304" pitchFamily="18" charset="0"/>
              </a:rPr>
              <a:t>=</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“Quality-Adjusted Value”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59647257-0B5B-7038-D5C3-3005D5D7E990}"/>
              </a:ext>
            </a:extLst>
          </p:cNvPr>
          <p:cNvSpPr txBox="1"/>
          <p:nvPr/>
        </p:nvSpPr>
        <p:spPr>
          <a:xfrm>
            <a:off x="7171050" y="6439508"/>
            <a:ext cx="3848490" cy="369332"/>
          </a:xfrm>
          <a:prstGeom prst="rect">
            <a:avLst/>
          </a:prstGeom>
          <a:noFill/>
        </p:spPr>
        <p:txBody>
          <a:bodyPr wrap="square">
            <a:spAutoFit/>
          </a:bodyPr>
          <a:lstStyle/>
          <a:p>
            <a:pPr algn="ctr"/>
            <a:r>
              <a:rPr lang="en-US" b="1" dirty="0"/>
              <a:t>PC2 = “Absolute Valuation Level”</a:t>
            </a:r>
          </a:p>
        </p:txBody>
      </p:sp>
    </p:spTree>
    <p:extLst>
      <p:ext uri="{BB962C8B-B14F-4D97-AF65-F5344CB8AC3E}">
        <p14:creationId xmlns:p14="http://schemas.microsoft.com/office/powerpoint/2010/main" val="3415636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5A73-51E2-AF96-6F44-31460BF43B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9513CE-7D47-1F51-D162-B2AA13480C9C}"/>
              </a:ext>
            </a:extLst>
          </p:cNvPr>
          <p:cNvSpPr txBox="1"/>
          <p:nvPr/>
        </p:nvSpPr>
        <p:spPr>
          <a:xfrm>
            <a:off x="0" y="0"/>
            <a:ext cx="9854814" cy="584775"/>
          </a:xfrm>
          <a:prstGeom prst="rect">
            <a:avLst/>
          </a:prstGeom>
          <a:noFill/>
        </p:spPr>
        <p:txBody>
          <a:bodyPr wrap="none">
            <a:spAutoFit/>
          </a:bodyPr>
          <a:lstStyle/>
          <a:p>
            <a:pPr>
              <a:defRPr sz="3200" b="1"/>
            </a:pPr>
            <a:r>
              <a:rPr lang="en-US" dirty="0"/>
              <a:t>Quality Factor (“Profitability”) - Isolated PC Analysis</a:t>
            </a:r>
            <a:endParaRPr dirty="0"/>
          </a:p>
        </p:txBody>
      </p:sp>
      <p:sp>
        <p:nvSpPr>
          <p:cNvPr id="7" name="TextBox 6">
            <a:extLst>
              <a:ext uri="{FF2B5EF4-FFF2-40B4-BE49-F238E27FC236}">
                <a16:creationId xmlns:a16="http://schemas.microsoft.com/office/drawing/2014/main" id="{3DD561D2-8909-C060-71FB-795A6D65B7CE}"/>
              </a:ext>
            </a:extLst>
          </p:cNvPr>
          <p:cNvSpPr txBox="1"/>
          <p:nvPr/>
        </p:nvSpPr>
        <p:spPr>
          <a:xfrm>
            <a:off x="1060516" y="1558577"/>
            <a:ext cx="2993010" cy="954107"/>
          </a:xfrm>
          <a:prstGeom prst="rect">
            <a:avLst/>
          </a:prstGeom>
          <a:noFill/>
          <a:ln>
            <a:solidFill>
              <a:schemeClr val="accent1">
                <a:shade val="15000"/>
              </a:schemeClr>
            </a:solidFill>
          </a:ln>
        </p:spPr>
        <p:txBody>
          <a:bodyPr wrap="square">
            <a:spAutoFit/>
          </a:bodyPr>
          <a:lstStyle/>
          <a:p>
            <a:r>
              <a:rPr lang="en-US" sz="1400" u="sng" dirty="0"/>
              <a:t>Quality Feature	PC1 Loading</a:t>
            </a:r>
          </a:p>
          <a:p>
            <a:r>
              <a:rPr lang="en-US" sz="1400" dirty="0"/>
              <a:t>ROE		+0.361</a:t>
            </a:r>
          </a:p>
          <a:p>
            <a:r>
              <a:rPr lang="en-US" sz="1400" dirty="0"/>
              <a:t>ROA		+0.435</a:t>
            </a:r>
          </a:p>
          <a:p>
            <a:r>
              <a:rPr lang="en-US" sz="1400" kern="100" dirty="0"/>
              <a:t>Gross Profitability 	</a:t>
            </a:r>
            <a:r>
              <a:rPr lang="en-US" sz="1400" dirty="0"/>
              <a:t>+0.150</a:t>
            </a:r>
          </a:p>
        </p:txBody>
      </p:sp>
      <p:sp>
        <p:nvSpPr>
          <p:cNvPr id="9" name="TextBox 8">
            <a:extLst>
              <a:ext uri="{FF2B5EF4-FFF2-40B4-BE49-F238E27FC236}">
                <a16:creationId xmlns:a16="http://schemas.microsoft.com/office/drawing/2014/main" id="{E8B87F29-7147-438A-5F1C-05768C4EE58E}"/>
              </a:ext>
            </a:extLst>
          </p:cNvPr>
          <p:cNvSpPr txBox="1"/>
          <p:nvPr/>
        </p:nvSpPr>
        <p:spPr>
          <a:xfrm>
            <a:off x="7598790" y="1552705"/>
            <a:ext cx="2993010" cy="954107"/>
          </a:xfrm>
          <a:prstGeom prst="rect">
            <a:avLst/>
          </a:prstGeom>
          <a:noFill/>
          <a:ln>
            <a:solidFill>
              <a:schemeClr val="accent1">
                <a:shade val="15000"/>
              </a:schemeClr>
            </a:solidFill>
          </a:ln>
        </p:spPr>
        <p:txBody>
          <a:bodyPr wrap="square">
            <a:spAutoFit/>
          </a:bodyPr>
          <a:lstStyle/>
          <a:p>
            <a:r>
              <a:rPr lang="en-US" sz="1400" u="sng" dirty="0"/>
              <a:t>Quality Feature	PC2 Loading</a:t>
            </a:r>
          </a:p>
          <a:p>
            <a:r>
              <a:rPr lang="en-US" sz="1400" dirty="0"/>
              <a:t>ROE		+0.151</a:t>
            </a:r>
          </a:p>
          <a:p>
            <a:r>
              <a:rPr lang="en-US" sz="1400" dirty="0"/>
              <a:t>ROA		−0.196</a:t>
            </a:r>
          </a:p>
          <a:p>
            <a:r>
              <a:rPr lang="en-US" sz="1400" dirty="0"/>
              <a:t>Gross Profitability	−0.267</a:t>
            </a:r>
          </a:p>
        </p:txBody>
      </p:sp>
      <p:sp>
        <p:nvSpPr>
          <p:cNvPr id="11" name="TextBox 10">
            <a:extLst>
              <a:ext uri="{FF2B5EF4-FFF2-40B4-BE49-F238E27FC236}">
                <a16:creationId xmlns:a16="http://schemas.microsoft.com/office/drawing/2014/main" id="{8BC683E0-2795-8286-CC93-F655C862B301}"/>
              </a:ext>
            </a:extLst>
          </p:cNvPr>
          <p:cNvSpPr txBox="1"/>
          <p:nvPr/>
        </p:nvSpPr>
        <p:spPr>
          <a:xfrm>
            <a:off x="268663" y="688404"/>
            <a:ext cx="5827336" cy="738664"/>
          </a:xfrm>
          <a:prstGeom prst="rect">
            <a:avLst/>
          </a:prstGeom>
          <a:noFill/>
        </p:spPr>
        <p:txBody>
          <a:bodyPr wrap="square">
            <a:spAutoFit/>
          </a:bodyPr>
          <a:lstStyle/>
          <a:p>
            <a:r>
              <a:rPr lang="en-US" sz="1400" b="1" dirty="0"/>
              <a:t>PC1 strongly captures quality through operational and capital efficiency, with ROA and ROE as dominant drivers, signaling durable, high-quality profitability rather than leverage-driven returns.</a:t>
            </a:r>
          </a:p>
        </p:txBody>
      </p:sp>
      <p:sp>
        <p:nvSpPr>
          <p:cNvPr id="13" name="TextBox 12">
            <a:extLst>
              <a:ext uri="{FF2B5EF4-FFF2-40B4-BE49-F238E27FC236}">
                <a16:creationId xmlns:a16="http://schemas.microsoft.com/office/drawing/2014/main" id="{2FC316C6-38AA-0930-E7D5-266C1F99D5BA}"/>
              </a:ext>
            </a:extLst>
          </p:cNvPr>
          <p:cNvSpPr txBox="1"/>
          <p:nvPr/>
        </p:nvSpPr>
        <p:spPr>
          <a:xfrm>
            <a:off x="6096000" y="688404"/>
            <a:ext cx="5998590" cy="738664"/>
          </a:xfrm>
          <a:prstGeom prst="rect">
            <a:avLst/>
          </a:prstGeom>
          <a:noFill/>
        </p:spPr>
        <p:txBody>
          <a:bodyPr wrap="square">
            <a:spAutoFit/>
          </a:bodyPr>
          <a:lstStyle/>
          <a:p>
            <a:r>
              <a:rPr lang="en-US" sz="1400" b="1" dirty="0"/>
              <a:t>PC2 differentiates quality by its source, separating leverage-enhanced ROE from profitability driven by operational efficiency and gross margins.</a:t>
            </a:r>
          </a:p>
        </p:txBody>
      </p:sp>
      <p:sp>
        <p:nvSpPr>
          <p:cNvPr id="15" name="TextBox 14">
            <a:extLst>
              <a:ext uri="{FF2B5EF4-FFF2-40B4-BE49-F238E27FC236}">
                <a16:creationId xmlns:a16="http://schemas.microsoft.com/office/drawing/2014/main" id="{EF282C53-B38F-078A-63F1-26153CB56BB8}"/>
              </a:ext>
            </a:extLst>
          </p:cNvPr>
          <p:cNvSpPr txBox="1"/>
          <p:nvPr/>
        </p:nvSpPr>
        <p:spPr>
          <a:xfrm>
            <a:off x="344077" y="4243917"/>
            <a:ext cx="4143077" cy="230999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PC1 stocks: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Efficient asset utilization</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Strong capital returns</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Real operating profits (not just revenue scale)</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Low PC1 stocks: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Weak margins</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Capital inefficiency</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Fragile profitability</a:t>
            </a:r>
          </a:p>
          <a:p>
            <a:pPr marL="342900" marR="0" lvl="0" indent="-342900">
              <a:lnSpc>
                <a:spcPct val="115000"/>
              </a:lnSpc>
              <a:buSzPts val="1000"/>
              <a:buFont typeface="Symbol" panose="05050102010706020507" pitchFamily="18" charset="2"/>
              <a:buChar char=""/>
              <a:tabLst>
                <a:tab pos="457200" algn="l"/>
              </a:tabLst>
            </a:pPr>
            <a:endParaRPr lang="en-US" sz="1400" kern="100" dirty="0">
              <a:effectLst/>
              <a:ea typeface="Aptos" panose="020B0004020202020204" pitchFamily="34"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E11043CE-0F52-4359-C816-F615AA41EED6}"/>
              </a:ext>
            </a:extLst>
          </p:cNvPr>
          <p:cNvCxnSpPr>
            <a:cxnSpLocks/>
          </p:cNvCxnSpPr>
          <p:nvPr/>
        </p:nvCxnSpPr>
        <p:spPr>
          <a:xfrm>
            <a:off x="6096000" y="688404"/>
            <a:ext cx="0" cy="608946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5CB2256-58BE-8B46-5DA7-C42DF34D7D1D}"/>
              </a:ext>
            </a:extLst>
          </p:cNvPr>
          <p:cNvSpPr txBox="1"/>
          <p:nvPr/>
        </p:nvSpPr>
        <p:spPr>
          <a:xfrm>
            <a:off x="344078" y="2644193"/>
            <a:ext cx="5274297" cy="1318951"/>
          </a:xfrm>
          <a:prstGeom prst="rect">
            <a:avLst/>
          </a:prstGeom>
          <a:noFill/>
        </p:spPr>
        <p:txBody>
          <a:bodyPr wrap="square">
            <a:spAutoFit/>
          </a:bodyPr>
          <a:lstStyle/>
          <a:p>
            <a:pPr marL="0" marR="0">
              <a:lnSpc>
                <a:spcPct val="115000"/>
              </a:lnSpc>
              <a:buNone/>
            </a:pPr>
            <a:r>
              <a:rPr lang="en-US" sz="1400" kern="0" dirty="0">
                <a:effectLst/>
                <a:ea typeface="Times New Roman" panose="02020603050405020304" pitchFamily="18" charset="0"/>
                <a:cs typeface="Times New Roman" panose="02020603050405020304" pitchFamily="18" charset="0"/>
              </a:rPr>
              <a:t>PC1 defines quality </a:t>
            </a:r>
            <a:r>
              <a:rPr lang="en-US" sz="1400" b="1" kern="0" dirty="0">
                <a:effectLst/>
                <a:ea typeface="Times New Roman" panose="02020603050405020304" pitchFamily="18" charset="0"/>
                <a:cs typeface="Times New Roman" panose="02020603050405020304" pitchFamily="18" charset="0"/>
              </a:rPr>
              <a:t>primarily through operating efficiency</a:t>
            </a:r>
            <a:r>
              <a:rPr lang="en-US" sz="1400" kern="0" dirty="0">
                <a:effectLst/>
                <a:ea typeface="Times New Roman" panose="02020603050405020304" pitchFamily="18" charset="0"/>
                <a:cs typeface="Times New Roman" panose="02020603050405020304" pitchFamily="18" charset="0"/>
              </a:rPr>
              <a:t>, not accounting leverage</a:t>
            </a:r>
            <a:r>
              <a:rPr lang="en-US" sz="1400" kern="0" dirty="0">
                <a:ea typeface="Times New Roman" panose="02020603050405020304" pitchFamily="18" charset="0"/>
                <a:cs typeface="Times New Roman" panose="02020603050405020304" pitchFamily="18" charset="0"/>
              </a:rPr>
              <a:t>:</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Assets → Earnings conversion matters more than equity leverage</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Profitability quality &gt; financial engineering</a:t>
            </a:r>
            <a:endParaRPr lang="en-US" sz="1400" kern="100" dirty="0">
              <a:effectLst/>
              <a:ea typeface="Aptos" panose="020B0004020202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7FA4411C-3A5C-03EB-375B-F53A663EA3A6}"/>
              </a:ext>
            </a:extLst>
          </p:cNvPr>
          <p:cNvSpPr txBox="1"/>
          <p:nvPr/>
        </p:nvSpPr>
        <p:spPr>
          <a:xfrm>
            <a:off x="6156489" y="2632449"/>
            <a:ext cx="4571214" cy="1071191"/>
          </a:xfrm>
          <a:prstGeom prst="rect">
            <a:avLst/>
          </a:prstGeom>
          <a:noFill/>
        </p:spPr>
        <p:txBody>
          <a:bodyPr wrap="square">
            <a:spAutoFit/>
          </a:bodyPr>
          <a:lstStyle/>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a:t>
            </a:r>
            <a:r>
              <a:rPr lang="en-US" sz="1400" b="1" kern="100" dirty="0">
                <a:effectLst/>
                <a:latin typeface="Aptos" panose="020B0004020202020204" pitchFamily="34" charset="0"/>
                <a:ea typeface="Aptos" panose="020B0004020202020204" pitchFamily="34" charset="0"/>
                <a:cs typeface="Times New Roman" panose="02020603050405020304" pitchFamily="18" charset="0"/>
              </a:rPr>
              <a:t>splits</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the Quality factor internally: </a:t>
            </a:r>
          </a:p>
          <a:p>
            <a:pPr marL="342900" marR="0" lvl="0" indent="-342900">
              <a:lnSpc>
                <a:spcPct val="115000"/>
              </a:lnSpc>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is not a “more vs less quality” axis.</a:t>
            </a:r>
          </a:p>
          <a:p>
            <a:pPr marL="342900" marR="0" lvl="0" indent="-342900">
              <a:lnSpc>
                <a:spcPct val="115000"/>
              </a:lnSpc>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Instead, PC2 is a composition axis: How profitability is generated — not how strong it is overall.</a:t>
            </a:r>
          </a:p>
        </p:txBody>
      </p:sp>
      <p:sp>
        <p:nvSpPr>
          <p:cNvPr id="26" name="TextBox 25">
            <a:extLst>
              <a:ext uri="{FF2B5EF4-FFF2-40B4-BE49-F238E27FC236}">
                <a16:creationId xmlns:a16="http://schemas.microsoft.com/office/drawing/2014/main" id="{34064418-1F2E-07BD-F0AA-447D0DB11FE0}"/>
              </a:ext>
            </a:extLst>
          </p:cNvPr>
          <p:cNvSpPr txBox="1"/>
          <p:nvPr/>
        </p:nvSpPr>
        <p:spPr>
          <a:xfrm>
            <a:off x="6156488" y="4243917"/>
            <a:ext cx="4674909" cy="206223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PC1 stocks </a:t>
            </a:r>
            <a:r>
              <a:rPr lang="en-US" sz="1400" i="1" kern="0" dirty="0">
                <a:effectLst/>
                <a:ea typeface="Times New Roman" panose="02020603050405020304" pitchFamily="18" charset="0"/>
                <a:cs typeface="Times New Roman" panose="02020603050405020304" pitchFamily="18" charset="0"/>
              </a:rPr>
              <a:t>(Financially engineered profitability)</a:t>
            </a:r>
            <a:r>
              <a:rPr lang="en-US" sz="1400" b="1" kern="0" dirty="0">
                <a:effectLst/>
                <a:ea typeface="Times New Roman" panose="02020603050405020304" pitchFamily="18" charset="0"/>
                <a:cs typeface="Times New Roman" panose="02020603050405020304" pitchFamily="18" charset="0"/>
              </a:rPr>
              <a:t>:</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ROE is being boosted by leverage or capital structure</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Profitability per dollar of assets is weaker</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Gross margins are not the core strength</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Low PC1 </a:t>
            </a:r>
            <a:r>
              <a:rPr lang="en-US" sz="1400" i="1" kern="0" dirty="0">
                <a:ea typeface="Times New Roman" panose="02020603050405020304" pitchFamily="18" charset="0"/>
                <a:cs typeface="Times New Roman" panose="02020603050405020304" pitchFamily="18" charset="0"/>
              </a:rPr>
              <a:t>(</a:t>
            </a:r>
            <a:r>
              <a:rPr lang="en-US" sz="1400" i="1" kern="0" dirty="0">
                <a:effectLst/>
                <a:ea typeface="Times New Roman" panose="02020603050405020304" pitchFamily="18" charset="0"/>
                <a:cs typeface="Times New Roman" panose="02020603050405020304" pitchFamily="18" charset="0"/>
              </a:rPr>
              <a:t>Operational profitability)</a:t>
            </a:r>
            <a:r>
              <a:rPr lang="en-US" sz="1400" b="1" kern="0" dirty="0">
                <a:effectLst/>
                <a:ea typeface="Times New Roman" panose="02020603050405020304" pitchFamily="18" charset="0"/>
                <a:cs typeface="Times New Roman" panose="02020603050405020304" pitchFamily="18" charset="0"/>
              </a:rPr>
              <a:t>:</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	Profits driven by operations, margins, and efficiency</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	Less reliance on leverage</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	More durable business economics</a:t>
            </a:r>
          </a:p>
        </p:txBody>
      </p:sp>
      <p:sp>
        <p:nvSpPr>
          <p:cNvPr id="6" name="TextBox 5">
            <a:extLst>
              <a:ext uri="{FF2B5EF4-FFF2-40B4-BE49-F238E27FC236}">
                <a16:creationId xmlns:a16="http://schemas.microsoft.com/office/drawing/2014/main" id="{381F4261-C68F-0820-A3C6-598EB6729F24}"/>
              </a:ext>
            </a:extLst>
          </p:cNvPr>
          <p:cNvSpPr txBox="1"/>
          <p:nvPr/>
        </p:nvSpPr>
        <p:spPr>
          <a:xfrm>
            <a:off x="174405" y="6369242"/>
            <a:ext cx="5665506" cy="395173"/>
          </a:xfrm>
          <a:prstGeom prst="rect">
            <a:avLst/>
          </a:prstGeom>
          <a:noFill/>
        </p:spPr>
        <p:txBody>
          <a:bodyPr wrap="square">
            <a:spAutoFit/>
          </a:bodyPr>
          <a:lstStyle/>
          <a:p>
            <a:pPr marL="0" marR="0" algn="ctr">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PC1: = “Operational Profitability / Capital Efficiency”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F0F9BE1D-A539-96E1-4B02-D1DE87F1FEB8}"/>
              </a:ext>
            </a:extLst>
          </p:cNvPr>
          <p:cNvSpPr txBox="1"/>
          <p:nvPr/>
        </p:nvSpPr>
        <p:spPr>
          <a:xfrm>
            <a:off x="6156489" y="6369242"/>
            <a:ext cx="6188696" cy="369332"/>
          </a:xfrm>
          <a:prstGeom prst="rect">
            <a:avLst/>
          </a:prstGeom>
          <a:noFill/>
        </p:spPr>
        <p:txBody>
          <a:bodyPr wrap="square">
            <a:spAutoFit/>
          </a:bodyPr>
          <a:lstStyle/>
          <a:p>
            <a:pPr algn="ctr"/>
            <a:r>
              <a:rPr lang="en-US" b="1" dirty="0"/>
              <a:t>PC2 = “Operational Quality vs Leverage-Driven Returns”</a:t>
            </a:r>
          </a:p>
        </p:txBody>
      </p:sp>
    </p:spTree>
    <p:extLst>
      <p:ext uri="{BB962C8B-B14F-4D97-AF65-F5344CB8AC3E}">
        <p14:creationId xmlns:p14="http://schemas.microsoft.com/office/powerpoint/2010/main" val="4255556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526B0-6275-0BD9-C67B-8953F14198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2C086B-1ECD-EA3F-E87C-014E10B7BB58}"/>
              </a:ext>
            </a:extLst>
          </p:cNvPr>
          <p:cNvSpPr txBox="1"/>
          <p:nvPr/>
        </p:nvSpPr>
        <p:spPr>
          <a:xfrm>
            <a:off x="0" y="0"/>
            <a:ext cx="11671208" cy="584775"/>
          </a:xfrm>
          <a:prstGeom prst="rect">
            <a:avLst/>
          </a:prstGeom>
          <a:noFill/>
        </p:spPr>
        <p:txBody>
          <a:bodyPr wrap="none">
            <a:spAutoFit/>
          </a:bodyPr>
          <a:lstStyle/>
          <a:p>
            <a:pPr>
              <a:defRPr sz="3200" b="1"/>
            </a:pPr>
            <a:r>
              <a:rPr lang="en-US" dirty="0"/>
              <a:t>Financial Strength Factor (“Resilience”) - Isolated PC Analysis</a:t>
            </a:r>
            <a:endParaRPr dirty="0"/>
          </a:p>
        </p:txBody>
      </p:sp>
      <p:sp>
        <p:nvSpPr>
          <p:cNvPr id="7" name="TextBox 6">
            <a:extLst>
              <a:ext uri="{FF2B5EF4-FFF2-40B4-BE49-F238E27FC236}">
                <a16:creationId xmlns:a16="http://schemas.microsoft.com/office/drawing/2014/main" id="{5E7FF825-D1F7-8488-28C1-7309144B4554}"/>
              </a:ext>
            </a:extLst>
          </p:cNvPr>
          <p:cNvSpPr txBox="1"/>
          <p:nvPr/>
        </p:nvSpPr>
        <p:spPr>
          <a:xfrm>
            <a:off x="1060516" y="1558577"/>
            <a:ext cx="2993010" cy="738664"/>
          </a:xfrm>
          <a:prstGeom prst="rect">
            <a:avLst/>
          </a:prstGeom>
          <a:noFill/>
          <a:ln>
            <a:solidFill>
              <a:schemeClr val="accent1">
                <a:shade val="15000"/>
              </a:schemeClr>
            </a:solidFill>
          </a:ln>
        </p:spPr>
        <p:txBody>
          <a:bodyPr wrap="square">
            <a:spAutoFit/>
          </a:bodyPr>
          <a:lstStyle/>
          <a:p>
            <a:r>
              <a:rPr lang="en-US" sz="1400" u="sng" dirty="0"/>
              <a:t>Financial Strength 	PC1 Loading</a:t>
            </a:r>
          </a:p>
          <a:p>
            <a:r>
              <a:rPr lang="en-US" sz="1400" dirty="0"/>
              <a:t>Debt/Assets	+0.158</a:t>
            </a:r>
          </a:p>
          <a:p>
            <a:r>
              <a:rPr lang="en-US" sz="1400" dirty="0"/>
              <a:t>Cash Flow to Debt	+0.357</a:t>
            </a:r>
          </a:p>
        </p:txBody>
      </p:sp>
      <p:sp>
        <p:nvSpPr>
          <p:cNvPr id="11" name="TextBox 10">
            <a:extLst>
              <a:ext uri="{FF2B5EF4-FFF2-40B4-BE49-F238E27FC236}">
                <a16:creationId xmlns:a16="http://schemas.microsoft.com/office/drawing/2014/main" id="{6758F30A-8F66-B110-8EBB-46E1DFBE94F5}"/>
              </a:ext>
            </a:extLst>
          </p:cNvPr>
          <p:cNvSpPr txBox="1"/>
          <p:nvPr/>
        </p:nvSpPr>
        <p:spPr>
          <a:xfrm>
            <a:off x="268663" y="688404"/>
            <a:ext cx="5827336" cy="738664"/>
          </a:xfrm>
          <a:prstGeom prst="rect">
            <a:avLst/>
          </a:prstGeom>
          <a:noFill/>
        </p:spPr>
        <p:txBody>
          <a:bodyPr wrap="square">
            <a:spAutoFit/>
          </a:bodyPr>
          <a:lstStyle/>
          <a:p>
            <a:r>
              <a:rPr lang="en-US" sz="1400" b="1" dirty="0"/>
              <a:t>PC1 rewards firms with strong cash-flow-driven debt-servicing capacity, emphasizing balance-sheet resilience over simple leverage minimization.</a:t>
            </a:r>
          </a:p>
        </p:txBody>
      </p:sp>
      <p:sp>
        <p:nvSpPr>
          <p:cNvPr id="13" name="TextBox 12">
            <a:extLst>
              <a:ext uri="{FF2B5EF4-FFF2-40B4-BE49-F238E27FC236}">
                <a16:creationId xmlns:a16="http://schemas.microsoft.com/office/drawing/2014/main" id="{ECC0D438-C60E-7569-0523-417164E41B77}"/>
              </a:ext>
            </a:extLst>
          </p:cNvPr>
          <p:cNvSpPr txBox="1"/>
          <p:nvPr/>
        </p:nvSpPr>
        <p:spPr>
          <a:xfrm>
            <a:off x="6096000" y="688404"/>
            <a:ext cx="5998590" cy="523220"/>
          </a:xfrm>
          <a:prstGeom prst="rect">
            <a:avLst/>
          </a:prstGeom>
          <a:noFill/>
        </p:spPr>
        <p:txBody>
          <a:bodyPr wrap="square">
            <a:spAutoFit/>
          </a:bodyPr>
          <a:lstStyle/>
          <a:p>
            <a:r>
              <a:rPr lang="en-US" sz="1400" b="1" dirty="0"/>
              <a:t>PC2 isolates financial fragility, penalizing firms with high leverage unsupported by cash flow and highlighting balance-sheet stress risk.</a:t>
            </a:r>
          </a:p>
        </p:txBody>
      </p:sp>
      <p:sp>
        <p:nvSpPr>
          <p:cNvPr id="15" name="TextBox 14">
            <a:extLst>
              <a:ext uri="{FF2B5EF4-FFF2-40B4-BE49-F238E27FC236}">
                <a16:creationId xmlns:a16="http://schemas.microsoft.com/office/drawing/2014/main" id="{DDF69501-EF1E-819E-BC73-13D0A1985D87}"/>
              </a:ext>
            </a:extLst>
          </p:cNvPr>
          <p:cNvSpPr txBox="1"/>
          <p:nvPr/>
        </p:nvSpPr>
        <p:spPr>
          <a:xfrm>
            <a:off x="344077" y="4017674"/>
            <a:ext cx="4143077" cy="206223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PC1 firms: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May use debt</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But comfortably service it</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Are resilient in stress scenarios</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Low PC1 firms:</a:t>
            </a:r>
            <a:endParaRPr lang="en-US" sz="1400" kern="100" dirty="0">
              <a:effectLst/>
              <a:ea typeface="Aptos" panose="020B0004020202020204" pitchFamily="34" charset="0"/>
              <a:cs typeface="Times New Roman" panose="02020603050405020304" pitchFamily="18" charset="0"/>
            </a:endParaRP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Weak cash flows</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Poor debt coverage</a:t>
            </a:r>
          </a:p>
          <a:p>
            <a:pPr marL="342900" marR="0" lvl="0" indent="-342900">
              <a:lnSpc>
                <a:spcPct val="115000"/>
              </a:lnSpc>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Vulnerable to tightening financial conditions</a:t>
            </a:r>
          </a:p>
        </p:txBody>
      </p:sp>
      <p:cxnSp>
        <p:nvCxnSpPr>
          <p:cNvPr id="17" name="Straight Connector 16">
            <a:extLst>
              <a:ext uri="{FF2B5EF4-FFF2-40B4-BE49-F238E27FC236}">
                <a16:creationId xmlns:a16="http://schemas.microsoft.com/office/drawing/2014/main" id="{62B3924E-D81F-451F-05A8-81B5A61D2FD9}"/>
              </a:ext>
            </a:extLst>
          </p:cNvPr>
          <p:cNvCxnSpPr>
            <a:cxnSpLocks/>
          </p:cNvCxnSpPr>
          <p:nvPr/>
        </p:nvCxnSpPr>
        <p:spPr>
          <a:xfrm>
            <a:off x="6096000" y="688404"/>
            <a:ext cx="0" cy="608946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9918BF5-5FDA-ADE9-9C40-3F7FA67CA4B9}"/>
              </a:ext>
            </a:extLst>
          </p:cNvPr>
          <p:cNvSpPr txBox="1"/>
          <p:nvPr/>
        </p:nvSpPr>
        <p:spPr>
          <a:xfrm>
            <a:off x="344079" y="2417950"/>
            <a:ext cx="5594808" cy="1566711"/>
          </a:xfrm>
          <a:prstGeom prst="rect">
            <a:avLst/>
          </a:prstGeom>
          <a:noFill/>
        </p:spPr>
        <p:txBody>
          <a:bodyPr wrap="square">
            <a:spAutoFit/>
          </a:bodyPr>
          <a:lstStyle/>
          <a:p>
            <a:pPr marL="0" marR="0">
              <a:lnSpc>
                <a:spcPct val="115000"/>
              </a:lnSpc>
              <a:buNone/>
            </a:pPr>
            <a:r>
              <a:rPr lang="en-US" sz="1400" kern="0" dirty="0">
                <a:effectLst/>
                <a:ea typeface="Times New Roman" panose="02020603050405020304" pitchFamily="18" charset="0"/>
                <a:cs typeface="Times New Roman" panose="02020603050405020304" pitchFamily="18" charset="0"/>
              </a:rPr>
              <a:t>PC1 Rewards firms that:</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That generate strong internal cash flows</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Th</a:t>
            </a:r>
            <a:r>
              <a:rPr lang="en-US" sz="1400" kern="0" dirty="0">
                <a:effectLst/>
                <a:ea typeface="Times New Roman" panose="02020603050405020304" pitchFamily="18" charset="0"/>
                <a:cs typeface="Times New Roman" panose="02020603050405020304" pitchFamily="18" charset="0"/>
              </a:rPr>
              <a:t>at can service obligations comfortably</a:t>
            </a:r>
          </a:p>
          <a:p>
            <a:pPr marL="285750" marR="0" indent="-285750">
              <a:lnSpc>
                <a:spcPct val="115000"/>
              </a:lnSpc>
              <a:buFont typeface="Arial" panose="020B0604020202020204" pitchFamily="34" charset="0"/>
              <a:buChar char="•"/>
            </a:pPr>
            <a:r>
              <a:rPr lang="en-US" sz="1400" kern="100" dirty="0">
                <a:effectLst/>
                <a:ea typeface="Aptos" panose="020B0004020202020204" pitchFamily="34" charset="0"/>
                <a:cs typeface="Times New Roman" panose="02020603050405020304" pitchFamily="18" charset="0"/>
              </a:rPr>
              <a:t>With balance sheets that are functional, not necessarily conservative</a:t>
            </a:r>
          </a:p>
          <a:p>
            <a:pPr marR="0">
              <a:lnSpc>
                <a:spcPct val="115000"/>
              </a:lnSpc>
            </a:pPr>
            <a:r>
              <a:rPr lang="en-US" sz="1400" b="1" i="1" kern="100" dirty="0">
                <a:effectLst/>
                <a:ea typeface="Aptos" panose="020B0004020202020204" pitchFamily="34" charset="0"/>
                <a:cs typeface="Times New Roman" panose="02020603050405020304" pitchFamily="18" charset="0"/>
              </a:rPr>
              <a:t>Resilience comes from cash generation, not from zero leverage</a:t>
            </a:r>
          </a:p>
        </p:txBody>
      </p:sp>
      <p:sp>
        <p:nvSpPr>
          <p:cNvPr id="24" name="TextBox 23">
            <a:extLst>
              <a:ext uri="{FF2B5EF4-FFF2-40B4-BE49-F238E27FC236}">
                <a16:creationId xmlns:a16="http://schemas.microsoft.com/office/drawing/2014/main" id="{E4007D66-AFD6-EDE4-74C7-A77D11619F45}"/>
              </a:ext>
            </a:extLst>
          </p:cNvPr>
          <p:cNvSpPr txBox="1"/>
          <p:nvPr/>
        </p:nvSpPr>
        <p:spPr>
          <a:xfrm>
            <a:off x="6156488" y="2406206"/>
            <a:ext cx="4806883" cy="1814471"/>
          </a:xfrm>
          <a:prstGeom prst="rect">
            <a:avLst/>
          </a:prstGeom>
          <a:noFill/>
        </p:spPr>
        <p:txBody>
          <a:bodyPr wrap="square">
            <a:spAutoFit/>
          </a:bodyPr>
          <a:lstStyle/>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separates:</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Healthy leverage (PC1-positive) from fragile leverage (PC2-positive)</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It is effectively measuring leverage without coverage (which is why the signs flip relative to PC1)</a:t>
            </a:r>
          </a:p>
          <a:p>
            <a:pPr marR="0">
              <a:lnSpc>
                <a:spcPct val="115000"/>
              </a:lnSpc>
            </a:pPr>
            <a:r>
              <a:rPr lang="en-US" sz="1400" b="1" i="1" kern="100" dirty="0">
                <a:effectLst/>
                <a:latin typeface="Aptos" panose="020B0004020202020204" pitchFamily="34" charset="0"/>
                <a:ea typeface="Aptos" panose="020B0004020202020204" pitchFamily="34" charset="0"/>
                <a:cs typeface="Times New Roman" panose="02020603050405020304" pitchFamily="18" charset="0"/>
              </a:rPr>
              <a:t>It’s one of the strongest predictors of distress in finance</a:t>
            </a:r>
          </a:p>
          <a:p>
            <a:pPr marL="342900" marR="0" lvl="0" indent="-342900">
              <a:lnSpc>
                <a:spcPct val="115000"/>
              </a:lnSpc>
              <a:buSzPts val="1000"/>
              <a:buFont typeface="Symbol" panose="05050102010706020507" pitchFamily="18" charset="2"/>
              <a:buChar char=""/>
              <a:tabLst>
                <a:tab pos="457200" algn="l"/>
              </a:tabLst>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690EBB3C-C856-3940-2AEA-B36DE3E1538B}"/>
              </a:ext>
            </a:extLst>
          </p:cNvPr>
          <p:cNvSpPr txBox="1"/>
          <p:nvPr/>
        </p:nvSpPr>
        <p:spPr>
          <a:xfrm>
            <a:off x="6156488" y="4017674"/>
            <a:ext cx="4674909" cy="230999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Positive PC2 (↑ PC2)</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High leverage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Weak debt-service capacity</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Reliance on balance-sheet expansion rather than internal cash flow</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Negative PC2 (↓ PC2)</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Lower leverage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Strong cash flow coverage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Balance-sheet conservatism</a:t>
            </a:r>
          </a:p>
        </p:txBody>
      </p:sp>
      <p:sp>
        <p:nvSpPr>
          <p:cNvPr id="6" name="TextBox 5">
            <a:extLst>
              <a:ext uri="{FF2B5EF4-FFF2-40B4-BE49-F238E27FC236}">
                <a16:creationId xmlns:a16="http://schemas.microsoft.com/office/drawing/2014/main" id="{FDA27F21-DB52-D885-DEB3-C1CD093A5CE6}"/>
              </a:ext>
            </a:extLst>
          </p:cNvPr>
          <p:cNvSpPr txBox="1"/>
          <p:nvPr/>
        </p:nvSpPr>
        <p:spPr>
          <a:xfrm>
            <a:off x="174405" y="6369242"/>
            <a:ext cx="5665506" cy="395173"/>
          </a:xfrm>
          <a:prstGeom prst="rect">
            <a:avLst/>
          </a:prstGeom>
          <a:noFill/>
        </p:spPr>
        <p:txBody>
          <a:bodyPr wrap="square">
            <a:spAutoFit/>
          </a:bodyPr>
          <a:lstStyle/>
          <a:p>
            <a:pPr algn="ctr">
              <a:lnSpc>
                <a:spcPct val="115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PC1: = “</a:t>
            </a:r>
            <a:r>
              <a:rPr lang="en-US" b="1" dirty="0"/>
              <a:t>Cash-Flow-Driven Financial Strength</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BCFF5598-EA6E-9D6C-B034-5AEE29DCCDEE}"/>
              </a:ext>
            </a:extLst>
          </p:cNvPr>
          <p:cNvSpPr txBox="1"/>
          <p:nvPr/>
        </p:nvSpPr>
        <p:spPr>
          <a:xfrm>
            <a:off x="6156489" y="6369242"/>
            <a:ext cx="6188696" cy="369332"/>
          </a:xfrm>
          <a:prstGeom prst="rect">
            <a:avLst/>
          </a:prstGeom>
          <a:noFill/>
        </p:spPr>
        <p:txBody>
          <a:bodyPr wrap="square">
            <a:spAutoFit/>
          </a:bodyPr>
          <a:lstStyle/>
          <a:p>
            <a:pPr algn="ctr"/>
            <a:r>
              <a:rPr lang="en-US" b="1" dirty="0"/>
              <a:t>PC2 = “Leverage-Induced Financial Risk”</a:t>
            </a:r>
          </a:p>
        </p:txBody>
      </p:sp>
      <p:sp>
        <p:nvSpPr>
          <p:cNvPr id="2" name="TextBox 1">
            <a:extLst>
              <a:ext uri="{FF2B5EF4-FFF2-40B4-BE49-F238E27FC236}">
                <a16:creationId xmlns:a16="http://schemas.microsoft.com/office/drawing/2014/main" id="{52CF8DC1-84CA-D325-216B-079423C5E880}"/>
              </a:ext>
            </a:extLst>
          </p:cNvPr>
          <p:cNvSpPr txBox="1"/>
          <p:nvPr/>
        </p:nvSpPr>
        <p:spPr>
          <a:xfrm>
            <a:off x="7598790" y="1552704"/>
            <a:ext cx="2993010" cy="738664"/>
          </a:xfrm>
          <a:prstGeom prst="rect">
            <a:avLst/>
          </a:prstGeom>
          <a:noFill/>
          <a:ln>
            <a:solidFill>
              <a:schemeClr val="accent1">
                <a:shade val="15000"/>
              </a:schemeClr>
            </a:solidFill>
          </a:ln>
        </p:spPr>
        <p:txBody>
          <a:bodyPr wrap="square">
            <a:spAutoFit/>
          </a:bodyPr>
          <a:lstStyle/>
          <a:p>
            <a:r>
              <a:rPr lang="en-US" sz="1400" u="sng" dirty="0"/>
              <a:t>Financial Strength 	PC2 Loading</a:t>
            </a:r>
          </a:p>
          <a:p>
            <a:r>
              <a:rPr lang="en-US" sz="1400" dirty="0"/>
              <a:t>Debt/Assets	+0.479</a:t>
            </a:r>
          </a:p>
          <a:p>
            <a:r>
              <a:rPr lang="en-US" sz="1400" dirty="0"/>
              <a:t>Cash Flow to Debt	-0.342</a:t>
            </a:r>
          </a:p>
        </p:txBody>
      </p:sp>
    </p:spTree>
    <p:extLst>
      <p:ext uri="{BB962C8B-B14F-4D97-AF65-F5344CB8AC3E}">
        <p14:creationId xmlns:p14="http://schemas.microsoft.com/office/powerpoint/2010/main" val="3824781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16AA2-F45C-05F3-3D09-4EB8EA8B9B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159403-EA27-7A72-3DB1-E525D1395EFE}"/>
              </a:ext>
            </a:extLst>
          </p:cNvPr>
          <p:cNvSpPr txBox="1"/>
          <p:nvPr/>
        </p:nvSpPr>
        <p:spPr>
          <a:xfrm>
            <a:off x="0" y="0"/>
            <a:ext cx="9523376" cy="584775"/>
          </a:xfrm>
          <a:prstGeom prst="rect">
            <a:avLst/>
          </a:prstGeom>
          <a:noFill/>
        </p:spPr>
        <p:txBody>
          <a:bodyPr wrap="none">
            <a:spAutoFit/>
          </a:bodyPr>
          <a:lstStyle/>
          <a:p>
            <a:pPr>
              <a:defRPr sz="3200" b="1"/>
            </a:pPr>
            <a:r>
              <a:rPr lang="en-US" dirty="0"/>
              <a:t>Momentum Factor (“Trend”) - Isolated PC Analysis</a:t>
            </a:r>
            <a:endParaRPr dirty="0"/>
          </a:p>
        </p:txBody>
      </p:sp>
      <p:sp>
        <p:nvSpPr>
          <p:cNvPr id="7" name="TextBox 6">
            <a:extLst>
              <a:ext uri="{FF2B5EF4-FFF2-40B4-BE49-F238E27FC236}">
                <a16:creationId xmlns:a16="http://schemas.microsoft.com/office/drawing/2014/main" id="{7BFCAC00-C56E-F1A5-4097-C43ABF9E4A52}"/>
              </a:ext>
            </a:extLst>
          </p:cNvPr>
          <p:cNvSpPr txBox="1"/>
          <p:nvPr/>
        </p:nvSpPr>
        <p:spPr>
          <a:xfrm>
            <a:off x="1428156" y="1552704"/>
            <a:ext cx="3058998" cy="523220"/>
          </a:xfrm>
          <a:prstGeom prst="rect">
            <a:avLst/>
          </a:prstGeom>
          <a:noFill/>
          <a:ln>
            <a:solidFill>
              <a:schemeClr val="accent1">
                <a:shade val="15000"/>
              </a:schemeClr>
            </a:solidFill>
          </a:ln>
        </p:spPr>
        <p:txBody>
          <a:bodyPr wrap="square">
            <a:spAutoFit/>
          </a:bodyPr>
          <a:lstStyle/>
          <a:p>
            <a:r>
              <a:rPr lang="en-US" sz="1400" u="sng" dirty="0" err="1"/>
              <a:t>Momentun</a:t>
            </a:r>
            <a:r>
              <a:rPr lang="en-US" sz="1400" u="sng" dirty="0"/>
              <a:t> Feature	PC1 Loading</a:t>
            </a:r>
          </a:p>
          <a:p>
            <a:r>
              <a:rPr lang="en-US" sz="1400" dirty="0"/>
              <a:t>12-mo </a:t>
            </a:r>
            <a:r>
              <a:rPr lang="en-US" sz="1400" dirty="0" err="1"/>
              <a:t>Px</a:t>
            </a:r>
            <a:r>
              <a:rPr lang="en-US" sz="1400" dirty="0"/>
              <a:t> Momentum	+0.259</a:t>
            </a:r>
          </a:p>
        </p:txBody>
      </p:sp>
      <p:sp>
        <p:nvSpPr>
          <p:cNvPr id="11" name="TextBox 10">
            <a:extLst>
              <a:ext uri="{FF2B5EF4-FFF2-40B4-BE49-F238E27FC236}">
                <a16:creationId xmlns:a16="http://schemas.microsoft.com/office/drawing/2014/main" id="{228D47A2-6FAF-3B1E-554A-9AB79D63F565}"/>
              </a:ext>
            </a:extLst>
          </p:cNvPr>
          <p:cNvSpPr txBox="1"/>
          <p:nvPr/>
        </p:nvSpPr>
        <p:spPr>
          <a:xfrm>
            <a:off x="268663" y="688404"/>
            <a:ext cx="5827336" cy="738664"/>
          </a:xfrm>
          <a:prstGeom prst="rect">
            <a:avLst/>
          </a:prstGeom>
          <a:noFill/>
        </p:spPr>
        <p:txBody>
          <a:bodyPr wrap="square">
            <a:spAutoFit/>
          </a:bodyPr>
          <a:lstStyle/>
          <a:p>
            <a:r>
              <a:rPr lang="en-US" sz="1400" b="1" dirty="0"/>
              <a:t>PC1 embeds momentum as a reinforcing trend signal, rewarding stocks with sustained 12-month price strength aligned with fundamental quality and resilience.</a:t>
            </a:r>
          </a:p>
        </p:txBody>
      </p:sp>
      <p:sp>
        <p:nvSpPr>
          <p:cNvPr id="13" name="TextBox 12">
            <a:extLst>
              <a:ext uri="{FF2B5EF4-FFF2-40B4-BE49-F238E27FC236}">
                <a16:creationId xmlns:a16="http://schemas.microsoft.com/office/drawing/2014/main" id="{C2C4B5B1-3095-113B-D900-1820F1D39F30}"/>
              </a:ext>
            </a:extLst>
          </p:cNvPr>
          <p:cNvSpPr txBox="1"/>
          <p:nvPr/>
        </p:nvSpPr>
        <p:spPr>
          <a:xfrm>
            <a:off x="6096000" y="688404"/>
            <a:ext cx="5998590" cy="738664"/>
          </a:xfrm>
          <a:prstGeom prst="rect">
            <a:avLst/>
          </a:prstGeom>
          <a:noFill/>
        </p:spPr>
        <p:txBody>
          <a:bodyPr wrap="square">
            <a:spAutoFit/>
          </a:bodyPr>
          <a:lstStyle/>
          <a:p>
            <a:r>
              <a:rPr lang="en-US" sz="1400" b="1" dirty="0"/>
              <a:t>PC2 loads negatively on momentum, favoring stocks that have not yet exhibited price trends and may represent early-stage or contrarian opportunities before market recognition.</a:t>
            </a:r>
          </a:p>
        </p:txBody>
      </p:sp>
      <p:sp>
        <p:nvSpPr>
          <p:cNvPr id="15" name="TextBox 14">
            <a:extLst>
              <a:ext uri="{FF2B5EF4-FFF2-40B4-BE49-F238E27FC236}">
                <a16:creationId xmlns:a16="http://schemas.microsoft.com/office/drawing/2014/main" id="{2EA772EC-B5F1-890F-A063-F886768A4B16}"/>
              </a:ext>
            </a:extLst>
          </p:cNvPr>
          <p:cNvSpPr txBox="1"/>
          <p:nvPr/>
        </p:nvSpPr>
        <p:spPr>
          <a:xfrm>
            <a:off x="344077" y="4017674"/>
            <a:ext cx="4143077" cy="156671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PC1 increases when:</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12-month price momentum is positive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Recent price winners are present</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PC1 decreases when:</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Momentum is weak or negative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Stocks are recent losers</a:t>
            </a:r>
          </a:p>
        </p:txBody>
      </p:sp>
      <p:cxnSp>
        <p:nvCxnSpPr>
          <p:cNvPr id="17" name="Straight Connector 16">
            <a:extLst>
              <a:ext uri="{FF2B5EF4-FFF2-40B4-BE49-F238E27FC236}">
                <a16:creationId xmlns:a16="http://schemas.microsoft.com/office/drawing/2014/main" id="{C67FE9D0-5190-7A5F-F753-0B3DFE22A9A3}"/>
              </a:ext>
            </a:extLst>
          </p:cNvPr>
          <p:cNvCxnSpPr>
            <a:cxnSpLocks/>
          </p:cNvCxnSpPr>
          <p:nvPr/>
        </p:nvCxnSpPr>
        <p:spPr>
          <a:xfrm>
            <a:off x="6096000" y="688404"/>
            <a:ext cx="0" cy="608946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FD0E35B4-C0B5-B695-9E8A-38AB94F9D6CB}"/>
              </a:ext>
            </a:extLst>
          </p:cNvPr>
          <p:cNvSpPr txBox="1"/>
          <p:nvPr/>
        </p:nvSpPr>
        <p:spPr>
          <a:xfrm>
            <a:off x="344079" y="2417950"/>
            <a:ext cx="5566526" cy="1071191"/>
          </a:xfrm>
          <a:prstGeom prst="rect">
            <a:avLst/>
          </a:prstGeom>
          <a:noFill/>
        </p:spPr>
        <p:txBody>
          <a:bodyPr wrap="square">
            <a:spAutoFit/>
          </a:bodyPr>
          <a:lstStyle/>
          <a:p>
            <a:pPr marL="0" marR="0">
              <a:lnSpc>
                <a:spcPct val="115000"/>
              </a:lnSpc>
              <a:buNone/>
            </a:pPr>
            <a:r>
              <a:rPr lang="en-US" sz="1400" kern="0" dirty="0">
                <a:effectLst/>
                <a:ea typeface="Times New Roman" panose="02020603050405020304" pitchFamily="18" charset="0"/>
                <a:cs typeface="Times New Roman" panose="02020603050405020304" pitchFamily="18" charset="0"/>
              </a:rPr>
              <a:t>PC1 rewards stocks that are already working; momentum here is acting as: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A confirmation signal, not a standalone trend factor</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Reinforcement of quality, profitability, and resilience</a:t>
            </a:r>
          </a:p>
        </p:txBody>
      </p:sp>
      <p:sp>
        <p:nvSpPr>
          <p:cNvPr id="24" name="TextBox 23">
            <a:extLst>
              <a:ext uri="{FF2B5EF4-FFF2-40B4-BE49-F238E27FC236}">
                <a16:creationId xmlns:a16="http://schemas.microsoft.com/office/drawing/2014/main" id="{D073AAF7-396A-F06A-511C-C64C2576167D}"/>
              </a:ext>
            </a:extLst>
          </p:cNvPr>
          <p:cNvSpPr txBox="1"/>
          <p:nvPr/>
        </p:nvSpPr>
        <p:spPr>
          <a:xfrm>
            <a:off x="6156488" y="2406206"/>
            <a:ext cx="5014275" cy="1566711"/>
          </a:xfrm>
          <a:prstGeom prst="rect">
            <a:avLst/>
          </a:prstGeom>
          <a:noFill/>
        </p:spPr>
        <p:txBody>
          <a:bodyPr wrap="square">
            <a:spAutoFit/>
          </a:bodyPr>
          <a:lstStyle/>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is not a trend-following axis. It moves against momentum, favoring stocks that:</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Have not recently performed well</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May be early-cycle, mean-reverting, or fundamentally improving</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Often look “unloved” by the market</a:t>
            </a:r>
          </a:p>
        </p:txBody>
      </p:sp>
      <p:sp>
        <p:nvSpPr>
          <p:cNvPr id="26" name="TextBox 25">
            <a:extLst>
              <a:ext uri="{FF2B5EF4-FFF2-40B4-BE49-F238E27FC236}">
                <a16:creationId xmlns:a16="http://schemas.microsoft.com/office/drawing/2014/main" id="{CAE7615C-49C9-5B4A-16FB-AF73066011CF}"/>
              </a:ext>
            </a:extLst>
          </p:cNvPr>
          <p:cNvSpPr txBox="1"/>
          <p:nvPr/>
        </p:nvSpPr>
        <p:spPr>
          <a:xfrm>
            <a:off x="6156488" y="4017674"/>
            <a:ext cx="4674909" cy="206223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PC2 increases when:</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12-month momentum is weak or negative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Stocks are recent underperformers or laggards</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PC2 decreases when:</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12-month momentum is strong</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Stocks are recent winners</a:t>
            </a:r>
          </a:p>
          <a:p>
            <a:pPr marL="285750" marR="0" indent="-285750">
              <a:lnSpc>
                <a:spcPct val="115000"/>
              </a:lnSpc>
              <a:buFont typeface="Arial" panose="020B0604020202020204" pitchFamily="34" charset="0"/>
              <a:buChar char="•"/>
            </a:pPr>
            <a:endParaRPr lang="en-US" sz="1400" kern="0" dirty="0">
              <a:ea typeface="Times New Roman" panose="02020603050405020304" pitchFamily="18" charset="0"/>
              <a:cs typeface="Times New Roman" panose="02020603050405020304" pitchFamily="18" charset="0"/>
            </a:endParaRPr>
          </a:p>
          <a:p>
            <a:pPr marR="0">
              <a:lnSpc>
                <a:spcPct val="115000"/>
              </a:lnSpc>
            </a:pPr>
            <a:r>
              <a:rPr lang="en-US" sz="1400" b="1" kern="0" dirty="0">
                <a:effectLst/>
                <a:ea typeface="Times New Roman" panose="02020603050405020304" pitchFamily="18" charset="0"/>
                <a:cs typeface="Times New Roman" panose="02020603050405020304" pitchFamily="18" charset="0"/>
              </a:rPr>
              <a:t>PC2 explicitly penalizes momentum.</a:t>
            </a:r>
          </a:p>
        </p:txBody>
      </p:sp>
      <p:sp>
        <p:nvSpPr>
          <p:cNvPr id="6" name="TextBox 5">
            <a:extLst>
              <a:ext uri="{FF2B5EF4-FFF2-40B4-BE49-F238E27FC236}">
                <a16:creationId xmlns:a16="http://schemas.microsoft.com/office/drawing/2014/main" id="{139DC509-D63C-0D04-60AB-4B4277899B5F}"/>
              </a:ext>
            </a:extLst>
          </p:cNvPr>
          <p:cNvSpPr txBox="1"/>
          <p:nvPr/>
        </p:nvSpPr>
        <p:spPr>
          <a:xfrm>
            <a:off x="174405" y="6369242"/>
            <a:ext cx="5665506" cy="395173"/>
          </a:xfrm>
          <a:prstGeom prst="rect">
            <a:avLst/>
          </a:prstGeom>
          <a:noFill/>
        </p:spPr>
        <p:txBody>
          <a:bodyPr wrap="square">
            <a:spAutoFit/>
          </a:bodyPr>
          <a:lstStyle/>
          <a:p>
            <a:pPr algn="ctr">
              <a:lnSpc>
                <a:spcPct val="115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PC1: = “Structural Momentum”</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9D63AAF4-B1C2-DB28-278A-CA058A5963FA}"/>
              </a:ext>
            </a:extLst>
          </p:cNvPr>
          <p:cNvSpPr txBox="1"/>
          <p:nvPr/>
        </p:nvSpPr>
        <p:spPr>
          <a:xfrm>
            <a:off x="6156489" y="6369242"/>
            <a:ext cx="6188696" cy="369332"/>
          </a:xfrm>
          <a:prstGeom prst="rect">
            <a:avLst/>
          </a:prstGeom>
          <a:noFill/>
        </p:spPr>
        <p:txBody>
          <a:bodyPr wrap="square">
            <a:spAutoFit/>
          </a:bodyPr>
          <a:lstStyle/>
          <a:p>
            <a:pPr algn="ctr"/>
            <a:r>
              <a:rPr lang="en-US" b="1" dirty="0"/>
              <a:t>PC2 = “Leverage-Induced Financial Risk”</a:t>
            </a:r>
          </a:p>
        </p:txBody>
      </p:sp>
      <p:sp>
        <p:nvSpPr>
          <p:cNvPr id="3" name="TextBox 2">
            <a:extLst>
              <a:ext uri="{FF2B5EF4-FFF2-40B4-BE49-F238E27FC236}">
                <a16:creationId xmlns:a16="http://schemas.microsoft.com/office/drawing/2014/main" id="{0D1FBB0E-83E2-F9D2-4201-0D1838F53A8B}"/>
              </a:ext>
            </a:extLst>
          </p:cNvPr>
          <p:cNvSpPr txBox="1"/>
          <p:nvPr/>
        </p:nvSpPr>
        <p:spPr>
          <a:xfrm>
            <a:off x="7030430" y="1552704"/>
            <a:ext cx="3058998" cy="523220"/>
          </a:xfrm>
          <a:prstGeom prst="rect">
            <a:avLst/>
          </a:prstGeom>
          <a:noFill/>
          <a:ln>
            <a:solidFill>
              <a:schemeClr val="accent1">
                <a:shade val="15000"/>
              </a:schemeClr>
            </a:solidFill>
          </a:ln>
        </p:spPr>
        <p:txBody>
          <a:bodyPr wrap="square">
            <a:spAutoFit/>
          </a:bodyPr>
          <a:lstStyle/>
          <a:p>
            <a:r>
              <a:rPr lang="en-US" sz="1400" u="sng" dirty="0" err="1"/>
              <a:t>Momentun</a:t>
            </a:r>
            <a:r>
              <a:rPr lang="en-US" sz="1400" u="sng" dirty="0"/>
              <a:t> Feature	PC2 Loading</a:t>
            </a:r>
          </a:p>
          <a:p>
            <a:r>
              <a:rPr lang="en-US" sz="1400" dirty="0"/>
              <a:t>12-mo </a:t>
            </a:r>
            <a:r>
              <a:rPr lang="en-US" sz="1400" dirty="0" err="1"/>
              <a:t>Px</a:t>
            </a:r>
            <a:r>
              <a:rPr lang="en-US" sz="1400" dirty="0"/>
              <a:t> Momentum	-0.203</a:t>
            </a:r>
          </a:p>
        </p:txBody>
      </p:sp>
    </p:spTree>
    <p:extLst>
      <p:ext uri="{BB962C8B-B14F-4D97-AF65-F5344CB8AC3E}">
        <p14:creationId xmlns:p14="http://schemas.microsoft.com/office/powerpoint/2010/main" val="409773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98E59-60B3-CAAA-879B-C7D51E9F93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8A2DE3-A48E-4EBE-35D3-9590F16F02DB}"/>
              </a:ext>
            </a:extLst>
          </p:cNvPr>
          <p:cNvSpPr txBox="1"/>
          <p:nvPr/>
        </p:nvSpPr>
        <p:spPr>
          <a:xfrm>
            <a:off x="0" y="0"/>
            <a:ext cx="9022213" cy="584775"/>
          </a:xfrm>
          <a:prstGeom prst="rect">
            <a:avLst/>
          </a:prstGeom>
          <a:noFill/>
        </p:spPr>
        <p:txBody>
          <a:bodyPr wrap="none">
            <a:spAutoFit/>
          </a:bodyPr>
          <a:lstStyle/>
          <a:p>
            <a:pPr>
              <a:defRPr sz="3200" b="1"/>
            </a:pPr>
            <a:r>
              <a:rPr lang="en-US" dirty="0"/>
              <a:t>Volatility Factor (“Trend”) - Isolated PC Analysis</a:t>
            </a:r>
            <a:endParaRPr dirty="0"/>
          </a:p>
        </p:txBody>
      </p:sp>
      <p:sp>
        <p:nvSpPr>
          <p:cNvPr id="7" name="TextBox 6">
            <a:extLst>
              <a:ext uri="{FF2B5EF4-FFF2-40B4-BE49-F238E27FC236}">
                <a16:creationId xmlns:a16="http://schemas.microsoft.com/office/drawing/2014/main" id="{928311EF-CCBD-EFD5-D7AF-7BCA9A55A1AE}"/>
              </a:ext>
            </a:extLst>
          </p:cNvPr>
          <p:cNvSpPr txBox="1"/>
          <p:nvPr/>
        </p:nvSpPr>
        <p:spPr>
          <a:xfrm>
            <a:off x="1428156" y="1552704"/>
            <a:ext cx="3058998" cy="523220"/>
          </a:xfrm>
          <a:prstGeom prst="rect">
            <a:avLst/>
          </a:prstGeom>
          <a:noFill/>
          <a:ln>
            <a:solidFill>
              <a:schemeClr val="accent1">
                <a:shade val="15000"/>
              </a:schemeClr>
            </a:solidFill>
          </a:ln>
        </p:spPr>
        <p:txBody>
          <a:bodyPr wrap="square">
            <a:spAutoFit/>
          </a:bodyPr>
          <a:lstStyle/>
          <a:p>
            <a:r>
              <a:rPr lang="en-US" sz="1400" u="sng" dirty="0"/>
              <a:t>Volatility Feature	PC1 Loading</a:t>
            </a:r>
          </a:p>
          <a:p>
            <a:r>
              <a:rPr lang="en-US" sz="1400" dirty="0"/>
              <a:t>60-day Volatility	-0.34</a:t>
            </a:r>
          </a:p>
        </p:txBody>
      </p:sp>
      <p:sp>
        <p:nvSpPr>
          <p:cNvPr id="11" name="TextBox 10">
            <a:extLst>
              <a:ext uri="{FF2B5EF4-FFF2-40B4-BE49-F238E27FC236}">
                <a16:creationId xmlns:a16="http://schemas.microsoft.com/office/drawing/2014/main" id="{8CBCA392-B5F2-498C-A66A-A06E1754EB04}"/>
              </a:ext>
            </a:extLst>
          </p:cNvPr>
          <p:cNvSpPr txBox="1"/>
          <p:nvPr/>
        </p:nvSpPr>
        <p:spPr>
          <a:xfrm>
            <a:off x="268663" y="688404"/>
            <a:ext cx="5827336" cy="738664"/>
          </a:xfrm>
          <a:prstGeom prst="rect">
            <a:avLst/>
          </a:prstGeom>
          <a:noFill/>
        </p:spPr>
        <p:txBody>
          <a:bodyPr wrap="square">
            <a:spAutoFit/>
          </a:bodyPr>
          <a:lstStyle/>
          <a:p>
            <a:r>
              <a:rPr lang="en-US" sz="1400" b="1" dirty="0"/>
              <a:t>PC1 strongly rewards low short-term volatility, indicating that stability and risk control are core components of the dominant economic dimension in the dataset.</a:t>
            </a:r>
          </a:p>
        </p:txBody>
      </p:sp>
      <p:sp>
        <p:nvSpPr>
          <p:cNvPr id="13" name="TextBox 12">
            <a:extLst>
              <a:ext uri="{FF2B5EF4-FFF2-40B4-BE49-F238E27FC236}">
                <a16:creationId xmlns:a16="http://schemas.microsoft.com/office/drawing/2014/main" id="{F478F7E4-B104-426B-30FD-0101230FFF0D}"/>
              </a:ext>
            </a:extLst>
          </p:cNvPr>
          <p:cNvSpPr txBox="1"/>
          <p:nvPr/>
        </p:nvSpPr>
        <p:spPr>
          <a:xfrm>
            <a:off x="6096000" y="688404"/>
            <a:ext cx="5998590" cy="523220"/>
          </a:xfrm>
          <a:prstGeom prst="rect">
            <a:avLst/>
          </a:prstGeom>
          <a:noFill/>
        </p:spPr>
        <p:txBody>
          <a:bodyPr wrap="square">
            <a:spAutoFit/>
          </a:bodyPr>
          <a:lstStyle/>
          <a:p>
            <a:r>
              <a:rPr lang="en-US" sz="1400" b="1" dirty="0"/>
              <a:t>PC2 slightly favors lower-volatility stocks, but volatility plays a supporting rather than defining role in this dimension.</a:t>
            </a:r>
          </a:p>
        </p:txBody>
      </p:sp>
      <p:sp>
        <p:nvSpPr>
          <p:cNvPr id="15" name="TextBox 14">
            <a:extLst>
              <a:ext uri="{FF2B5EF4-FFF2-40B4-BE49-F238E27FC236}">
                <a16:creationId xmlns:a16="http://schemas.microsoft.com/office/drawing/2014/main" id="{6FDD3956-7BF9-9468-A746-296AF61BA60B}"/>
              </a:ext>
            </a:extLst>
          </p:cNvPr>
          <p:cNvSpPr txBox="1"/>
          <p:nvPr/>
        </p:nvSpPr>
        <p:spPr>
          <a:xfrm>
            <a:off x="344077" y="3847988"/>
            <a:ext cx="4143077" cy="255775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Stocks scoring high on PC1 tend to be: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Operationally profitable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Financially resilient</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Low volatility</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Institutionally investable</a:t>
            </a:r>
          </a:p>
          <a:p>
            <a:pPr marR="0">
              <a:lnSpc>
                <a:spcPct val="115000"/>
              </a:lnSpc>
            </a:pPr>
            <a:r>
              <a:rPr lang="en-US" sz="1400" b="1" kern="0" dirty="0">
                <a:effectLst/>
                <a:ea typeface="Times New Roman" panose="02020603050405020304" pitchFamily="18" charset="0"/>
                <a:cs typeface="Times New Roman" panose="02020603050405020304" pitchFamily="18" charset="0"/>
              </a:rPr>
              <a:t>Stocks scoring low on PC1 tend to be: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Noisier</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Riskier</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More speculative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Less predictable in short-term behavior</a:t>
            </a:r>
          </a:p>
        </p:txBody>
      </p:sp>
      <p:cxnSp>
        <p:nvCxnSpPr>
          <p:cNvPr id="17" name="Straight Connector 16">
            <a:extLst>
              <a:ext uri="{FF2B5EF4-FFF2-40B4-BE49-F238E27FC236}">
                <a16:creationId xmlns:a16="http://schemas.microsoft.com/office/drawing/2014/main" id="{83EBA8E7-5FA4-4426-5AD6-AC557E21F63F}"/>
              </a:ext>
            </a:extLst>
          </p:cNvPr>
          <p:cNvCxnSpPr>
            <a:cxnSpLocks/>
          </p:cNvCxnSpPr>
          <p:nvPr/>
        </p:nvCxnSpPr>
        <p:spPr>
          <a:xfrm>
            <a:off x="6096000" y="688404"/>
            <a:ext cx="0" cy="608946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DF38868-D3BC-A6C3-E699-3AEC59222204}"/>
              </a:ext>
            </a:extLst>
          </p:cNvPr>
          <p:cNvSpPr txBox="1"/>
          <p:nvPr/>
        </p:nvSpPr>
        <p:spPr>
          <a:xfrm>
            <a:off x="344079" y="2304826"/>
            <a:ext cx="5566526" cy="1318951"/>
          </a:xfrm>
          <a:prstGeom prst="rect">
            <a:avLst/>
          </a:prstGeom>
          <a:noFill/>
        </p:spPr>
        <p:txBody>
          <a:bodyPr wrap="square">
            <a:spAutoFit/>
          </a:bodyPr>
          <a:lstStyle/>
          <a:p>
            <a:pPr marL="0" marR="0">
              <a:lnSpc>
                <a:spcPct val="115000"/>
              </a:lnSpc>
              <a:buNone/>
            </a:pPr>
            <a:r>
              <a:rPr lang="en-US" sz="1400" kern="0" dirty="0">
                <a:ea typeface="Times New Roman" panose="02020603050405020304" pitchFamily="18" charset="0"/>
                <a:cs typeface="Times New Roman" panose="02020603050405020304" pitchFamily="18" charset="0"/>
              </a:rPr>
              <a:t>PC1 treats volatility as a risk penalty, not a source of return</a:t>
            </a:r>
          </a:p>
          <a:p>
            <a:pPr marL="0" marR="0">
              <a:lnSpc>
                <a:spcPct val="115000"/>
              </a:lnSpc>
              <a:buNone/>
            </a:pPr>
            <a:r>
              <a:rPr lang="en-US" sz="1400" kern="0" dirty="0">
                <a:ea typeface="Times New Roman" panose="02020603050405020304" pitchFamily="18" charset="0"/>
                <a:cs typeface="Times New Roman" panose="02020603050405020304" pitchFamily="18" charset="0"/>
              </a:rPr>
              <a:t>This aligns with:</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Conservative factor construction</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Long-horizon, fundamental alpha</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Drawdown-aware portfolio design</a:t>
            </a:r>
            <a:endParaRPr lang="en-US" sz="1400" kern="0" dirty="0">
              <a:effectLst/>
              <a:ea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4471C13E-C4A7-36B6-66BB-767518E91A5E}"/>
              </a:ext>
            </a:extLst>
          </p:cNvPr>
          <p:cNvSpPr txBox="1"/>
          <p:nvPr/>
        </p:nvSpPr>
        <p:spPr>
          <a:xfrm>
            <a:off x="6156488" y="2293082"/>
            <a:ext cx="5202811" cy="1318951"/>
          </a:xfrm>
          <a:prstGeom prst="rect">
            <a:avLst/>
          </a:prstGeom>
          <a:noFill/>
        </p:spPr>
        <p:txBody>
          <a:bodyPr wrap="square">
            <a:spAutoFit/>
          </a:bodyPr>
          <a:lstStyle/>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still prefers stability, but:</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Volatility is not the dominant driver</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It acts as a supporting constraint, not a defining feature</a:t>
            </a:r>
          </a:p>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mildly penalizes volatile stocks, but volatility is not what PC2 is “about.”</a:t>
            </a:r>
          </a:p>
        </p:txBody>
      </p:sp>
      <p:sp>
        <p:nvSpPr>
          <p:cNvPr id="26" name="TextBox 25">
            <a:extLst>
              <a:ext uri="{FF2B5EF4-FFF2-40B4-BE49-F238E27FC236}">
                <a16:creationId xmlns:a16="http://schemas.microsoft.com/office/drawing/2014/main" id="{EFD651A9-9F6A-0B80-C289-BBC3846048E6}"/>
              </a:ext>
            </a:extLst>
          </p:cNvPr>
          <p:cNvSpPr txBox="1"/>
          <p:nvPr/>
        </p:nvSpPr>
        <p:spPr>
          <a:xfrm>
            <a:off x="6156488" y="3847988"/>
            <a:ext cx="4674909" cy="230999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Stocks scoring high on PC2 tend to be: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More liquid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Larger / more tradable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Moderately leveraged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Not excessively volatile</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Stocks scoring low on PC2 tend to be: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Less liquid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More financially stressed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Slightly more volatile</a:t>
            </a:r>
            <a:endParaRPr lang="en-US" sz="1400" b="1" kern="0" dirty="0">
              <a:effectLst/>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DC08368-2BE0-B26B-BBBE-321B0D86C35D}"/>
              </a:ext>
            </a:extLst>
          </p:cNvPr>
          <p:cNvSpPr txBox="1"/>
          <p:nvPr/>
        </p:nvSpPr>
        <p:spPr>
          <a:xfrm>
            <a:off x="174405" y="6369242"/>
            <a:ext cx="5665506" cy="395173"/>
          </a:xfrm>
          <a:prstGeom prst="rect">
            <a:avLst/>
          </a:prstGeom>
          <a:noFill/>
        </p:spPr>
        <p:txBody>
          <a:bodyPr wrap="square">
            <a:spAutoFit/>
          </a:bodyPr>
          <a:lstStyle/>
          <a:p>
            <a:pPr algn="ctr">
              <a:lnSpc>
                <a:spcPct val="115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PC1: = “Stability / Quality Risk Control”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0E2818BF-EE0E-E525-37A8-33BFF00BC859}"/>
              </a:ext>
            </a:extLst>
          </p:cNvPr>
          <p:cNvSpPr txBox="1"/>
          <p:nvPr/>
        </p:nvSpPr>
        <p:spPr>
          <a:xfrm>
            <a:off x="6156489" y="6369242"/>
            <a:ext cx="5998589" cy="369332"/>
          </a:xfrm>
          <a:prstGeom prst="rect">
            <a:avLst/>
          </a:prstGeom>
          <a:noFill/>
        </p:spPr>
        <p:txBody>
          <a:bodyPr wrap="square">
            <a:spAutoFit/>
          </a:bodyPr>
          <a:lstStyle/>
          <a:p>
            <a:pPr algn="ctr"/>
            <a:r>
              <a:rPr lang="en-US" b="1" dirty="0"/>
              <a:t>PC2 = “Risk Guardrail”</a:t>
            </a:r>
          </a:p>
        </p:txBody>
      </p:sp>
      <p:sp>
        <p:nvSpPr>
          <p:cNvPr id="2" name="TextBox 1">
            <a:extLst>
              <a:ext uri="{FF2B5EF4-FFF2-40B4-BE49-F238E27FC236}">
                <a16:creationId xmlns:a16="http://schemas.microsoft.com/office/drawing/2014/main" id="{A0943230-EE0C-CFAE-F91B-03EE54FC5F2A}"/>
              </a:ext>
            </a:extLst>
          </p:cNvPr>
          <p:cNvSpPr txBox="1"/>
          <p:nvPr/>
        </p:nvSpPr>
        <p:spPr>
          <a:xfrm>
            <a:off x="7492714" y="1490743"/>
            <a:ext cx="3058998" cy="523220"/>
          </a:xfrm>
          <a:prstGeom prst="rect">
            <a:avLst/>
          </a:prstGeom>
          <a:noFill/>
          <a:ln>
            <a:solidFill>
              <a:schemeClr val="accent1">
                <a:shade val="15000"/>
              </a:schemeClr>
            </a:solidFill>
          </a:ln>
        </p:spPr>
        <p:txBody>
          <a:bodyPr wrap="square">
            <a:spAutoFit/>
          </a:bodyPr>
          <a:lstStyle/>
          <a:p>
            <a:r>
              <a:rPr lang="en-US" sz="1400" u="sng" dirty="0"/>
              <a:t>Volatility Feature	PC2 Loading</a:t>
            </a:r>
          </a:p>
          <a:p>
            <a:r>
              <a:rPr lang="en-US" sz="1400" dirty="0"/>
              <a:t>60-day Volatility	-0.13</a:t>
            </a:r>
          </a:p>
        </p:txBody>
      </p:sp>
    </p:spTree>
    <p:extLst>
      <p:ext uri="{BB962C8B-B14F-4D97-AF65-F5344CB8AC3E}">
        <p14:creationId xmlns:p14="http://schemas.microsoft.com/office/powerpoint/2010/main" val="294834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82F1-E81F-AC1A-BDBD-BCE977911D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A58F3B-28FF-DC86-08F0-FE6276317F60}"/>
              </a:ext>
            </a:extLst>
          </p:cNvPr>
          <p:cNvSpPr txBox="1"/>
          <p:nvPr/>
        </p:nvSpPr>
        <p:spPr>
          <a:xfrm>
            <a:off x="0" y="0"/>
            <a:ext cx="8979959" cy="584775"/>
          </a:xfrm>
          <a:prstGeom prst="rect">
            <a:avLst/>
          </a:prstGeom>
          <a:noFill/>
        </p:spPr>
        <p:txBody>
          <a:bodyPr wrap="none">
            <a:spAutoFit/>
          </a:bodyPr>
          <a:lstStyle/>
          <a:p>
            <a:pPr>
              <a:defRPr sz="3200" b="1"/>
            </a:pPr>
            <a:r>
              <a:rPr lang="en-US" dirty="0"/>
              <a:t>Liquidity Factor (“Trend”) - Isolated PC Analysis</a:t>
            </a:r>
            <a:endParaRPr dirty="0"/>
          </a:p>
        </p:txBody>
      </p:sp>
      <p:sp>
        <p:nvSpPr>
          <p:cNvPr id="7" name="TextBox 6">
            <a:extLst>
              <a:ext uri="{FF2B5EF4-FFF2-40B4-BE49-F238E27FC236}">
                <a16:creationId xmlns:a16="http://schemas.microsoft.com/office/drawing/2014/main" id="{C6F1C75C-09FC-32D1-36CC-CBA056901B72}"/>
              </a:ext>
            </a:extLst>
          </p:cNvPr>
          <p:cNvSpPr txBox="1"/>
          <p:nvPr/>
        </p:nvSpPr>
        <p:spPr>
          <a:xfrm>
            <a:off x="1428156" y="1401873"/>
            <a:ext cx="3058998" cy="523220"/>
          </a:xfrm>
          <a:prstGeom prst="rect">
            <a:avLst/>
          </a:prstGeom>
          <a:noFill/>
          <a:ln>
            <a:solidFill>
              <a:schemeClr val="accent1">
                <a:shade val="15000"/>
              </a:schemeClr>
            </a:solidFill>
          </a:ln>
        </p:spPr>
        <p:txBody>
          <a:bodyPr wrap="square">
            <a:spAutoFit/>
          </a:bodyPr>
          <a:lstStyle/>
          <a:p>
            <a:r>
              <a:rPr lang="en-US" sz="1400" u="sng" dirty="0"/>
              <a:t>Liquidity Feature	PC1 Loading</a:t>
            </a:r>
          </a:p>
          <a:p>
            <a:r>
              <a:rPr lang="en-US" sz="1400" dirty="0"/>
              <a:t>3-month ADDV	+0.189</a:t>
            </a:r>
          </a:p>
        </p:txBody>
      </p:sp>
      <p:sp>
        <p:nvSpPr>
          <p:cNvPr id="11" name="TextBox 10">
            <a:extLst>
              <a:ext uri="{FF2B5EF4-FFF2-40B4-BE49-F238E27FC236}">
                <a16:creationId xmlns:a16="http://schemas.microsoft.com/office/drawing/2014/main" id="{53CB7C5A-6C1B-D807-66A9-700F4BA02C7B}"/>
              </a:ext>
            </a:extLst>
          </p:cNvPr>
          <p:cNvSpPr txBox="1"/>
          <p:nvPr/>
        </p:nvSpPr>
        <p:spPr>
          <a:xfrm>
            <a:off x="268663" y="688404"/>
            <a:ext cx="5827336" cy="523220"/>
          </a:xfrm>
          <a:prstGeom prst="rect">
            <a:avLst/>
          </a:prstGeom>
          <a:noFill/>
        </p:spPr>
        <p:txBody>
          <a:bodyPr wrap="square">
            <a:spAutoFit/>
          </a:bodyPr>
          <a:lstStyle/>
          <a:p>
            <a:r>
              <a:rPr lang="en-US" sz="1400" b="1" dirty="0"/>
              <a:t>PC1 rewards liquidity as part of a broader preference for high-quality, stable, and scalable stocks.</a:t>
            </a:r>
          </a:p>
        </p:txBody>
      </p:sp>
      <p:sp>
        <p:nvSpPr>
          <p:cNvPr id="13" name="TextBox 12">
            <a:extLst>
              <a:ext uri="{FF2B5EF4-FFF2-40B4-BE49-F238E27FC236}">
                <a16:creationId xmlns:a16="http://schemas.microsoft.com/office/drawing/2014/main" id="{92E20337-56E9-7E32-4054-25469542E50A}"/>
              </a:ext>
            </a:extLst>
          </p:cNvPr>
          <p:cNvSpPr txBox="1"/>
          <p:nvPr/>
        </p:nvSpPr>
        <p:spPr>
          <a:xfrm>
            <a:off x="6096000" y="688404"/>
            <a:ext cx="5998590" cy="523220"/>
          </a:xfrm>
          <a:prstGeom prst="rect">
            <a:avLst/>
          </a:prstGeom>
          <a:noFill/>
        </p:spPr>
        <p:txBody>
          <a:bodyPr wrap="square">
            <a:spAutoFit/>
          </a:bodyPr>
          <a:lstStyle/>
          <a:p>
            <a:r>
              <a:rPr lang="en-US" sz="1400" b="1" dirty="0"/>
              <a:t>PC2 is fundamentally a liquidity and scalability axis, separating institutionally tradable stocks from capacity-constrained names.</a:t>
            </a:r>
          </a:p>
        </p:txBody>
      </p:sp>
      <p:sp>
        <p:nvSpPr>
          <p:cNvPr id="15" name="TextBox 14">
            <a:extLst>
              <a:ext uri="{FF2B5EF4-FFF2-40B4-BE49-F238E27FC236}">
                <a16:creationId xmlns:a16="http://schemas.microsoft.com/office/drawing/2014/main" id="{65ABB509-385E-FAE1-68E7-8E88EA074314}"/>
              </a:ext>
            </a:extLst>
          </p:cNvPr>
          <p:cNvSpPr txBox="1"/>
          <p:nvPr/>
        </p:nvSpPr>
        <p:spPr>
          <a:xfrm>
            <a:off x="344077" y="3896938"/>
            <a:ext cx="4143077" cy="255775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PC1 stocks: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High ADDV (very liquid)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Easy to trade in size</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Lower transaction costs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Typically larger, more established firms</a:t>
            </a:r>
          </a:p>
          <a:p>
            <a:pPr marR="0">
              <a:lnSpc>
                <a:spcPct val="115000"/>
              </a:lnSpc>
            </a:pPr>
            <a:r>
              <a:rPr lang="en-US" sz="1400" b="1" kern="0" dirty="0">
                <a:effectLst/>
                <a:ea typeface="Times New Roman" panose="02020603050405020304" pitchFamily="18" charset="0"/>
                <a:cs typeface="Times New Roman" panose="02020603050405020304" pitchFamily="18" charset="0"/>
              </a:rPr>
              <a:t>Low PC1 stocks: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Thinly traded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Higher bid–ask spreads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Capacity-constrained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Harder to scale systematically</a:t>
            </a:r>
          </a:p>
        </p:txBody>
      </p:sp>
      <p:cxnSp>
        <p:nvCxnSpPr>
          <p:cNvPr id="17" name="Straight Connector 16">
            <a:extLst>
              <a:ext uri="{FF2B5EF4-FFF2-40B4-BE49-F238E27FC236}">
                <a16:creationId xmlns:a16="http://schemas.microsoft.com/office/drawing/2014/main" id="{178D9A11-0196-E120-E5EB-6DFD756749AE}"/>
              </a:ext>
            </a:extLst>
          </p:cNvPr>
          <p:cNvCxnSpPr>
            <a:cxnSpLocks/>
          </p:cNvCxnSpPr>
          <p:nvPr/>
        </p:nvCxnSpPr>
        <p:spPr>
          <a:xfrm>
            <a:off x="6096000" y="688404"/>
            <a:ext cx="0" cy="608946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7075BBFC-76AA-5D4F-9F2D-1BE47029D47F}"/>
              </a:ext>
            </a:extLst>
          </p:cNvPr>
          <p:cNvSpPr txBox="1"/>
          <p:nvPr/>
        </p:nvSpPr>
        <p:spPr>
          <a:xfrm>
            <a:off x="344079" y="2097433"/>
            <a:ext cx="5566526" cy="1566711"/>
          </a:xfrm>
          <a:prstGeom prst="rect">
            <a:avLst/>
          </a:prstGeom>
          <a:noFill/>
        </p:spPr>
        <p:txBody>
          <a:bodyPr wrap="square">
            <a:spAutoFit/>
          </a:bodyPr>
          <a:lstStyle/>
          <a:p>
            <a:pPr marL="0" marR="0">
              <a:lnSpc>
                <a:spcPct val="115000"/>
              </a:lnSpc>
              <a:buNone/>
            </a:pPr>
            <a:r>
              <a:rPr lang="en-US" sz="1400" kern="0" dirty="0">
                <a:ea typeface="Times New Roman" panose="02020603050405020304" pitchFamily="18" charset="0"/>
                <a:cs typeface="Times New Roman" panose="02020603050405020304" pitchFamily="18" charset="0"/>
              </a:rPr>
              <a:t>PC1 is fundamentally a “Quality + Stability + Scale” axis, and liquidity fits naturally into that story:</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Large, liquid stocks</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Easier to trade at scale</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Lower implementation costs</a:t>
            </a:r>
          </a:p>
          <a:p>
            <a:pPr marL="285750" marR="0" indent="-285750">
              <a:lnSpc>
                <a:spcPct val="115000"/>
              </a:lnSpc>
              <a:buFont typeface="Arial" panose="020B0604020202020204" pitchFamily="34" charset="0"/>
              <a:buChar char="•"/>
            </a:pPr>
            <a:r>
              <a:rPr lang="en-US" sz="1400" kern="0" dirty="0">
                <a:ea typeface="Times New Roman" panose="02020603050405020304" pitchFamily="18" charset="0"/>
                <a:cs typeface="Times New Roman" panose="02020603050405020304" pitchFamily="18" charset="0"/>
              </a:rPr>
              <a:t>Lower market impact</a:t>
            </a:r>
          </a:p>
        </p:txBody>
      </p:sp>
      <p:sp>
        <p:nvSpPr>
          <p:cNvPr id="24" name="TextBox 23">
            <a:extLst>
              <a:ext uri="{FF2B5EF4-FFF2-40B4-BE49-F238E27FC236}">
                <a16:creationId xmlns:a16="http://schemas.microsoft.com/office/drawing/2014/main" id="{FBD77268-B28E-7689-ADD9-F74B18657915}"/>
              </a:ext>
            </a:extLst>
          </p:cNvPr>
          <p:cNvSpPr txBox="1"/>
          <p:nvPr/>
        </p:nvSpPr>
        <p:spPr>
          <a:xfrm>
            <a:off x="6156488" y="2085689"/>
            <a:ext cx="5202811" cy="1814471"/>
          </a:xfrm>
          <a:prstGeom prst="rect">
            <a:avLst/>
          </a:prstGeom>
          <a:noFill/>
        </p:spPr>
        <p:txBody>
          <a:bodyPr wrap="square">
            <a:spAutoFit/>
          </a:bodyPr>
          <a:lstStyle/>
          <a:p>
            <a:pPr marL="0" marR="0">
              <a:lnSpc>
                <a:spcPct val="115000"/>
              </a:lnSpc>
              <a:buNone/>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PC2 is best interpreted as a Liquidity / Scale axis. It separates highly tradable, institution-scale stocks from smaller, harder-to-trade names. This axis captures:</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Market depth</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Trading capacity</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Execution efficiency</a:t>
            </a:r>
          </a:p>
          <a:p>
            <a:pPr marL="285750" marR="0" indent="-285750">
              <a:lnSpc>
                <a:spcPct val="115000"/>
              </a:lnSpc>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Scalability of strategies</a:t>
            </a:r>
          </a:p>
        </p:txBody>
      </p:sp>
      <p:sp>
        <p:nvSpPr>
          <p:cNvPr id="26" name="TextBox 25">
            <a:extLst>
              <a:ext uri="{FF2B5EF4-FFF2-40B4-BE49-F238E27FC236}">
                <a16:creationId xmlns:a16="http://schemas.microsoft.com/office/drawing/2014/main" id="{88C90E0A-D5B7-76C0-0870-4C7E423F55CA}"/>
              </a:ext>
            </a:extLst>
          </p:cNvPr>
          <p:cNvSpPr txBox="1"/>
          <p:nvPr/>
        </p:nvSpPr>
        <p:spPr>
          <a:xfrm>
            <a:off x="6156488" y="3866842"/>
            <a:ext cx="4674909" cy="2557751"/>
          </a:xfrm>
          <a:prstGeom prst="rect">
            <a:avLst/>
          </a:prstGeom>
          <a:noFill/>
        </p:spPr>
        <p:txBody>
          <a:bodyPr wrap="square">
            <a:spAutoFit/>
          </a:bodyPr>
          <a:lstStyle/>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High PC2 stocks: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Very high ADDV</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Large-cap / mega-cap profiles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Tight bid–ask spreads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Ideal for scalable portfolios</a:t>
            </a:r>
          </a:p>
          <a:p>
            <a:pPr marL="0" marR="0">
              <a:lnSpc>
                <a:spcPct val="115000"/>
              </a:lnSpc>
              <a:buNone/>
            </a:pPr>
            <a:r>
              <a:rPr lang="en-US" sz="1400" b="1" kern="0" dirty="0">
                <a:effectLst/>
                <a:ea typeface="Times New Roman" panose="02020603050405020304" pitchFamily="18" charset="0"/>
                <a:cs typeface="Times New Roman" panose="02020603050405020304" pitchFamily="18" charset="0"/>
              </a:rPr>
              <a:t>Low PC2 stocks:</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Thinly traded</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Small- or micro-cap</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Higher market impact</a:t>
            </a:r>
          </a:p>
          <a:p>
            <a:pPr marL="285750" marR="0" indent="-285750">
              <a:lnSpc>
                <a:spcPct val="115000"/>
              </a:lnSpc>
              <a:buFont typeface="Arial" panose="020B0604020202020204" pitchFamily="34" charset="0"/>
              <a:buChar char="•"/>
            </a:pPr>
            <a:r>
              <a:rPr lang="en-US" sz="1400" kern="0" dirty="0">
                <a:effectLst/>
                <a:ea typeface="Times New Roman" panose="02020603050405020304" pitchFamily="18" charset="0"/>
                <a:cs typeface="Times New Roman" panose="02020603050405020304" pitchFamily="18" charset="0"/>
              </a:rPr>
              <a:t>Limited institutional capacity</a:t>
            </a:r>
          </a:p>
        </p:txBody>
      </p:sp>
      <p:sp>
        <p:nvSpPr>
          <p:cNvPr id="6" name="TextBox 5">
            <a:extLst>
              <a:ext uri="{FF2B5EF4-FFF2-40B4-BE49-F238E27FC236}">
                <a16:creationId xmlns:a16="http://schemas.microsoft.com/office/drawing/2014/main" id="{A7552E4A-8BF5-B5BC-0CEF-C200624A16B3}"/>
              </a:ext>
            </a:extLst>
          </p:cNvPr>
          <p:cNvSpPr txBox="1"/>
          <p:nvPr/>
        </p:nvSpPr>
        <p:spPr>
          <a:xfrm>
            <a:off x="174405" y="6369242"/>
            <a:ext cx="5665506" cy="395173"/>
          </a:xfrm>
          <a:prstGeom prst="rect">
            <a:avLst/>
          </a:prstGeom>
          <a:noFill/>
        </p:spPr>
        <p:txBody>
          <a:bodyPr wrap="square">
            <a:spAutoFit/>
          </a:bodyPr>
          <a:lstStyle/>
          <a:p>
            <a:pPr algn="ctr">
              <a:lnSpc>
                <a:spcPct val="115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PC1: = “</a:t>
            </a:r>
            <a:r>
              <a:rPr lang="en-US" b="1" dirty="0"/>
              <a:t>High-quality, stable, scalable</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10" name="TextBox 9">
            <a:extLst>
              <a:ext uri="{FF2B5EF4-FFF2-40B4-BE49-F238E27FC236}">
                <a16:creationId xmlns:a16="http://schemas.microsoft.com/office/drawing/2014/main" id="{BF79366A-AA97-9BBF-D69D-86D291BF469D}"/>
              </a:ext>
            </a:extLst>
          </p:cNvPr>
          <p:cNvSpPr txBox="1"/>
          <p:nvPr/>
        </p:nvSpPr>
        <p:spPr>
          <a:xfrm>
            <a:off x="6156489" y="6369242"/>
            <a:ext cx="5998589" cy="369332"/>
          </a:xfrm>
          <a:prstGeom prst="rect">
            <a:avLst/>
          </a:prstGeom>
          <a:noFill/>
        </p:spPr>
        <p:txBody>
          <a:bodyPr wrap="square">
            <a:spAutoFit/>
          </a:bodyPr>
          <a:lstStyle/>
          <a:p>
            <a:pPr algn="ctr"/>
            <a:r>
              <a:rPr lang="en-US" b="1" dirty="0"/>
              <a:t>PC2 = “How scalable — regardless of quality”</a:t>
            </a:r>
          </a:p>
        </p:txBody>
      </p:sp>
      <p:sp>
        <p:nvSpPr>
          <p:cNvPr id="3" name="TextBox 2">
            <a:extLst>
              <a:ext uri="{FF2B5EF4-FFF2-40B4-BE49-F238E27FC236}">
                <a16:creationId xmlns:a16="http://schemas.microsoft.com/office/drawing/2014/main" id="{BC8C90C0-0348-70CF-4544-6E9A3A9AD8BA}"/>
              </a:ext>
            </a:extLst>
          </p:cNvPr>
          <p:cNvSpPr txBox="1"/>
          <p:nvPr/>
        </p:nvSpPr>
        <p:spPr>
          <a:xfrm>
            <a:off x="7228394" y="1401873"/>
            <a:ext cx="3058998" cy="523220"/>
          </a:xfrm>
          <a:prstGeom prst="rect">
            <a:avLst/>
          </a:prstGeom>
          <a:noFill/>
          <a:ln>
            <a:solidFill>
              <a:schemeClr val="accent1">
                <a:shade val="15000"/>
              </a:schemeClr>
            </a:solidFill>
          </a:ln>
        </p:spPr>
        <p:txBody>
          <a:bodyPr wrap="square">
            <a:spAutoFit/>
          </a:bodyPr>
          <a:lstStyle/>
          <a:p>
            <a:r>
              <a:rPr lang="en-US" sz="1400" u="sng" dirty="0"/>
              <a:t>Liquidity Feature	PC2 Loading</a:t>
            </a:r>
          </a:p>
          <a:p>
            <a:r>
              <a:rPr lang="en-US" sz="1400" dirty="0"/>
              <a:t>3-month ADDV 	+0.536</a:t>
            </a:r>
          </a:p>
        </p:txBody>
      </p:sp>
    </p:spTree>
    <p:extLst>
      <p:ext uri="{BB962C8B-B14F-4D97-AF65-F5344CB8AC3E}">
        <p14:creationId xmlns:p14="http://schemas.microsoft.com/office/powerpoint/2010/main" val="1702455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6247</TotalTime>
  <Words>2388</Words>
  <Application>Microsoft Office PowerPoint</Application>
  <PresentationFormat>Widescreen</PresentationFormat>
  <Paragraphs>355</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C</dc:creator>
  <cp:lastModifiedBy>K C</cp:lastModifiedBy>
  <cp:revision>118</cp:revision>
  <cp:lastPrinted>2025-12-15T20:34:33Z</cp:lastPrinted>
  <dcterms:created xsi:type="dcterms:W3CDTF">2025-11-17T18:29:51Z</dcterms:created>
  <dcterms:modified xsi:type="dcterms:W3CDTF">2025-12-15T23:09:43Z</dcterms:modified>
</cp:coreProperties>
</file>